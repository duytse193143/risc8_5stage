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40042f2-f483-e021-0a5b-092f8771a868}">
          <p14:sldIdLst>
            <p14:sldId id="256"/>
            <p14:sldId id="257"/>
          </p14:sldIdLst>
        </p14:section>
        <p14:section name="Design" id="{f425a0db-3bac-bdfc-9cd0-78a91c4c230b}">
          <p14:sldIdLst>
            <p14:sldId id="258"/>
            <p14:sldId id="259"/>
            <p14:sldId id="260"/>
          </p14:sldIdLst>
        </p14:section>
        <p14:section name="Verification" id="{b6c48353-9ef1-64cb-dbff-17d55e66377b}">
          <p14:sldIdLst>
            <p14:sldId id="261"/>
            <p14:sldId id="262"/>
            <p14:sldId id="263"/>
            <p14:sldId id="264"/>
          </p14:sldIdLst>
        </p14:section>
        <p14:section name="Results" id="{d46ac7c6-3369-675a-3a2a-101fd398199c}">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F2A2E"/>
                </a:solidFill>
                <a:latin typeface="+mj-lt"/>
              </a:defRPr>
            </a:pPr>
            <a:r>
              <a:rPr sz="1500" b="0" i="0" u="none" strike="noStrike">
                <a:solidFill>
                  <a:srgbClr val="0F2A2E"/>
                </a:solidFill>
                <a:latin typeface="+mj-lt"/>
              </a:rPr>
              <a:t>Where the 51 cycles go</a:t>
            </a:r>
          </a:p>
        </c:rich>
      </c:tx>
      <c:layout/>
      <c:overlay val="0"/>
    </c:title>
    <c:autoTitleDeleted val="0"/>
    <c:plotArea>
      <c:layout/>
      <c:barChart>
        <c:barDir val="bar"/>
        <c:grouping val="clustered"/>
        <c:varyColors val="0"/>
        <c:ser>
          <c:idx val="0"/>
          <c:order val="0"/>
          <c:tx>
            <c:strRef>
              <c:f>Sheet1!$B$1</c:f>
              <c:strCache>
                <c:ptCount val="1"/>
                <c:pt idx="0">
                  <c:v>Cycles</c:v>
                </c:pt>
              </c:strCache>
            </c:strRef>
          </c:tx>
          <c:spPr>
            <a:solidFill>
              <a:srgbClr val="1F7A6C"/>
            </a:solidFill>
            <a:effectLst/>
          </c:spPr>
          <c:invertIfNegative val="0"/>
          <c:dLbls>
            <c:numFmt formatCode="#,##0" sourceLinked="0"/>
            <c:txPr>
              <a:bodyPr/>
              <a:lstStyle/>
              <a:p>
                <a:pPr>
                  <a:defRPr b="0" i="0" strike="noStrike" sz="1300" u="none">
                    <a:solidFill>
                      <a:srgbClr val="1B1F24"/>
                    </a:solidFill>
                    <a:latin typeface="+mn-lt"/>
                  </a:defRPr>
                </a:pPr>
              </a:p>
            </c:txPr>
            <c:showLegendKey val="0"/>
            <c:showVal val="1"/>
            <c:showCatName val="0"/>
            <c:showSerName val="0"/>
            <c:showPercent val="0"/>
            <c:showBubbleSize val="0"/>
            <c:showLeaderLines val="0"/>
          </c:dLbls>
          <c:cat>
            <c:multiLvlStrRef>
              <c:f>Sheet1!$A$2:$A$5</c:f>
              <c:multiLvlStrCache>
                <c:ptCount val="4"/>
                <c:lvl>
                  <c:pt idx="0">
                    <c:v>Retired instructions</c:v>
                  </c:pt>
                  <c:pt idx="1">
                    <c:v>Branch flushes</c:v>
                  </c:pt>
                  <c:pt idx="2">
                    <c:v>Pipeline fill</c:v>
                  </c:pt>
                  <c:pt idx="3">
                    <c:v>Load-use stall</c:v>
                  </c:pt>
                </c:lvl>
              </c:multiLvlStrCache>
            </c:multiLvlStrRef>
          </c:cat>
          <c:val>
            <c:numRef>
              <c:f>Sheet1!$B$2:$B$5</c:f>
              <c:numCache>
                <c:formatCode>General</c:formatCode>
                <c:ptCount val="4"/>
                <c:pt idx="0">
                  <c:v>34</c:v>
                </c:pt>
                <c:pt idx="1">
                  <c:v>12</c:v>
                </c:pt>
                <c:pt idx="2">
                  <c:v>4</c:v>
                </c:pt>
                <c:pt idx="3">
                  <c:v>1</c:v>
                </c:pt>
              </c:numCache>
            </c:numRef>
          </c:val>
        </c:ser>
        <c:dLbls>
          <c:numFmt formatCode="#,##0" sourceLinked="0"/>
          <c:txPr>
            <a:bodyPr/>
            <a:lstStyle/>
            <a:p>
              <a:pPr>
                <a:defRPr b="0" i="0" strike="noStrike" sz="1300" u="none">
                  <a:solidFill>
                    <a:srgbClr val="1B1F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Good morning everyone. My name is Tran Duy, student ID SE193143. Today I will present my project: an 8-bit RISC processor core with a five-stage pipeline, written in Verilog, verified with a self-checking testbench in Vivado, and synthesized for a Xilinx Artix-7 FPGA.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Here is the project at a glance. The processor has a custom 8-bit RISC instruction set with 16 instructions, eight 8-bit registers and a classic five-stage pipeline: fetch, decode, execute, memory and write-back.
My goals were: first, turn the instruction set into a pipelined design in Verilog; second, handle pipeline hazards correctly; third, prove that it works with a self-checking testbench; and finally, synthesize it in Vivado. As you can see on the right, all nine automatic checks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Every instruction is exactly 16 bits. There are four formats. The opcode is always in the top four bits, and the register fields always stay in the same positions, which keeps the decoder very simple.
For example, LDI R1 comma 0x3C: opcode 1000 for LDI, 001 for register R1, then the 8-bit immediate 0x3C, which gives the machine word 0x823C.
The 16 instructions fall into three groups: arithmetic and logic, data movement, and control flow. Only LD and ST touch memory, which is the typical RISC load-store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This is the architecture. The pipeline has five stages. In IF, the program counter reads the instruction memory. In ID, the control unit decodes the opcode and the register file is read. In EX, the ALU computes the result and the branch decision is made. In MEM, loads and stores access the data memory. In WB, the result is written back to the register file.
Between the stages there are four pipeline registers. Each one carries a valid bit; when the valid bit is zero, that slot is a bubble that cannot change anything. This is how the design stalls or cancels instructions.
The design is split into seven Verilog modules, shown at the bottom: the ALU, register file, control unit and hazard unit, the two memories, and the top level that connects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Because five instructions overlap, there are hazards. I handle three kinds.
First, data hazards: an instruction needs a result that has not been written back yet. The hazard unit forwards the value from the EX/MEM or MEM/WB register, and the register file has a write-through bypass. Cost: zero cycles.
Second, the load-use hazard: a load only has its data at the end of the memory stage, so if the next instruction needs it, the pipeline stalls for exactly one cycle and then forwards the value.
Third, control hazards: branches are decided in EX, so when a branch is taken the two younger instructions are on the wrong path and are flushed, costing two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To verify the design I used a self-checking testbench. It generates a 100 MHz clock and a reset, instantiates the processor, prints one line of pipeline state every clock cycle, and at the end compares every register, one memory location and the flags with the expected values, then prints PASS or FAIL automatically.
The test program has three parts. Part one tests ALU operations with back-to-back dependencies and a taken branch over a wrong-path instruction. Part two is a loop that adds five plus four plus three plus two plus one. Part three tests store and load, a load-use pair, a carry overflow, a jump and halt. The expected final values are shown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And here is the result: all nine checks pass and the console prints ALL TESTS PASSED.
The program executed 34 instructions in 51 clock cycles, so the CPI is 1.50. The chart explains every cycle: 34 cycles for the instructions themselves, 12 cycles for six taken branches at two cycles each, 4 cycles to fill the pipeline at the start, and only 1 stall cycle for the load-use pair. Forwarding was used 12 times; without it the CPI would be much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This waveform shows the whole run, and every mechanism I talked about is visible.
Number one: at the start, the forwarding selects take values 1 and 2 while stall stays at zero, so dependent ALU instructions never wait.
Number two: take_branch pulses six times, and after each pulse the valid bits drop, which shows the two flushed instructions.
Number three: the program counter repeats 0D to 11 five times, which is the loop.
Number four: a single stall pulse for the load-use pair.
Number five: at the end the PC freezes at 19 and halted goes high.
The final register file contents match the expected values exactly, which also proves that the wrong-path instructions never changed R6 or R7.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Let me zoom in on the most interesting part: the load-use hazard. LD R5 reads the value 0x0F from memory. The next instruction, ADDI R5, needs that value immediately, but it does not exist yet. So the hazard unit raises stall for one cycle: the PC stays at 14, the ADDI waits in decode, and a bubble enters the pipeline.
One cycle later the loaded value is in the MEM/WB register and is forwarded, so R5 becomes 0xFF. The next ADDI adds one, overflows to zero, and sets both the zero and carry flags. The total cost is exactly one clock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Finally, I synthesized the design in Vivado for an Artix-7 FPGA. The whole processor uses only 238 LUTs and 187 flip-flops, about one percent of this small device.
The numbers also confirm the design: the ALU has zero flip-flops because it is purely combinational; the register file has exactly 64 flip-flops, eight registers times eight bits; and the 123 flip-flops in the top level match the widths of the four pipeline registers plus the PC and flags. The 256-byte data memory was mapped into LUT-RAM instead of thousands of flip-flops.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To conclude: I built a working five-stage pipelined 8-bit RISC processor in Verilog. All three hazard mechanisms are implemented and visible in the waveforms. The self-checking testbench passed all nine checks with a CPI of 1.50, and the design is compact, about one percent of an Artix-7 FPGA.
Thank you for listening. I am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6400800" cy="274320"/>
          </a:xfrm>
          <a:prstGeom prst="rect">
            <a:avLst/>
          </a:prstGeom>
          <a:noFill/>
          <a:ln/>
        </p:spPr>
        <p:txBody>
          <a:bodyPr wrap="square" lIns="0" tIns="0" rIns="0" bIns="0" rtlCol="0" anchor="ctr"/>
          <a:lstStyle/>
          <a:p>
            <a:pPr indent="0" marL="0">
              <a:buNone/>
            </a:pPr>
            <a:r>
              <a:rPr lang="en-US" sz="1000" dirty="0">
                <a:solidFill>
                  <a:schemeClr val="accent1"/>
                </a:solidFill>
              </a:rPr>
              <a:t>Tran Duy (SE193143)  |  8-bit RISC 5-Stage Pipeline</a:t>
            </a:r>
            <a:endParaRPr lang="en-US" sz="1000" dirty="0"/>
          </a:p>
        </p:txBody>
      </p:sp>
      <p:sp>
        <p:nvSpPr>
          <p:cNvPr id="3" name="Text 1"/>
          <p:cNvSpPr/>
          <p:nvPr>
            <p:ph idx="101"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jp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31520"/>
            <a:ext cx="1005840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PROJECT PRESENTATION  •  RTL DESIGN &amp; VERIFICATION</a:t>
            </a:r>
            <a:endParaRPr lang="en-US" sz="1400" dirty="0"/>
          </a:p>
        </p:txBody>
      </p:sp>
      <p:sp>
        <p:nvSpPr>
          <p:cNvPr id="3" name="Text 1"/>
          <p:cNvSpPr txBox="1"/>
          <p:nvPr/>
        </p:nvSpPr>
        <p:spPr>
          <a:xfrm>
            <a:off x="731520" y="1234440"/>
            <a:ext cx="10515600" cy="1737360"/>
          </a:xfrm>
          <a:prstGeom prst="rect">
            <a:avLst/>
          </a:prstGeom>
          <a:noFill/>
          <a:ln/>
        </p:spPr>
        <p:txBody>
          <a:bodyPr wrap="square" lIns="0" tIns="0" rIns="0" bIns="0" rtlCol="0" anchor="t"/>
          <a:lstStyle/>
          <a:p>
            <a:pPr indent="0" marL="0">
              <a:buNone/>
            </a:pPr>
            <a:r>
              <a:rPr lang="en-US" sz="4400" b="1" dirty="0">
                <a:solidFill>
                  <a:schemeClr val="bg1"/>
                </a:solidFill>
                <a:latin typeface="Cambria" pitchFamily="34" charset="0"/>
                <a:ea typeface="Cambria" pitchFamily="34" charset="-122"/>
                <a:cs typeface="Cambria" pitchFamily="34" charset="-120"/>
              </a:rPr>
              <a:t>8-bit RISC Processor Core</a:t>
            </a:r>
            <a:endParaRPr lang="en-US" sz="4400" dirty="0"/>
          </a:p>
          <a:p>
            <a:pPr indent="0" marL="0">
              <a:buNone/>
            </a:pPr>
            <a:r>
              <a:rPr lang="en-US" sz="4400" b="1" dirty="0">
                <a:solidFill>
                  <a:schemeClr val="bg1"/>
                </a:solidFill>
                <a:latin typeface="Cambria" pitchFamily="34" charset="0"/>
                <a:ea typeface="Cambria" pitchFamily="34" charset="-122"/>
                <a:cs typeface="Cambria" pitchFamily="34" charset="-120"/>
              </a:rPr>
              <a:t>with a 5-Stage Pipeline</a:t>
            </a:r>
            <a:endParaRPr lang="en-US" sz="4400" dirty="0"/>
          </a:p>
        </p:txBody>
      </p:sp>
      <p:sp>
        <p:nvSpPr>
          <p:cNvPr id="4" name="Text 2"/>
          <p:cNvSpPr txBox="1"/>
          <p:nvPr/>
        </p:nvSpPr>
        <p:spPr>
          <a:xfrm>
            <a:off x="731520" y="3017520"/>
            <a:ext cx="10058400" cy="457200"/>
          </a:xfrm>
          <a:prstGeom prst="rect">
            <a:avLst/>
          </a:prstGeom>
          <a:noFill/>
          <a:ln/>
        </p:spPr>
        <p:txBody>
          <a:bodyPr wrap="square" lIns="0" tIns="0" rIns="0" bIns="0" rtlCol="0" anchor="t"/>
          <a:lstStyle/>
          <a:p>
            <a:pPr indent="0" marL="0">
              <a:buNone/>
            </a:pPr>
            <a:r>
              <a:rPr lang="en-US" sz="2000" dirty="0">
                <a:solidFill>
                  <a:schemeClr val="bg2"/>
                </a:solidFill>
              </a:rPr>
              <a:t>Verilog HDL design, self-checking testbench and Vivado synthesis</a:t>
            </a:r>
            <a:endParaRPr lang="en-US" sz="2000" dirty="0"/>
          </a:p>
        </p:txBody>
      </p:sp>
      <p:sp>
        <p:nvSpPr>
          <p:cNvPr id="5" name="stage IF"/>
          <p:cNvSpPr/>
          <p:nvPr/>
        </p:nvSpPr>
        <p:spPr>
          <a:xfrm>
            <a:off x="731520" y="3840480"/>
            <a:ext cx="1188720" cy="640080"/>
          </a:xfrm>
          <a:prstGeom prst="roundRect">
            <a:avLst>
              <a:gd name="adj" fmla="val 14286"/>
            </a:avLst>
          </a:prstGeom>
          <a:solidFill>
            <a:schemeClr val="accent3"/>
          </a:solidFill>
          <a:ln w="12700">
            <a:solidFill>
              <a:schemeClr val="accent3"/>
            </a:solidFill>
            <a:prstDash val="solid"/>
          </a:ln>
        </p:spPr>
      </p:sp>
      <p:sp>
        <p:nvSpPr>
          <p:cNvPr id="6" name="Text 4"/>
          <p:cNvSpPr txBox="1"/>
          <p:nvPr/>
        </p:nvSpPr>
        <p:spPr>
          <a:xfrm>
            <a:off x="731520" y="3840480"/>
            <a:ext cx="1188720" cy="640080"/>
          </a:xfrm>
          <a:prstGeom prst="rect">
            <a:avLst/>
          </a:prstGeom>
          <a:noFill/>
          <a:ln/>
        </p:spPr>
        <p:txBody>
          <a:bodyPr wrap="square" lIns="0" tIns="0" rIns="0" bIns="0" rtlCol="0" anchor="ctr"/>
          <a:lstStyle/>
          <a:p>
            <a:pPr algn="ctr" indent="0" marL="0">
              <a:buNone/>
            </a:pPr>
            <a:r>
              <a:rPr lang="en-US" sz="1800" b="1" dirty="0">
                <a:solidFill>
                  <a:schemeClr val="bg1"/>
                </a:solidFill>
              </a:rPr>
              <a:t>IF</a:t>
            </a:r>
            <a:endParaRPr lang="en-US" sz="1800" dirty="0"/>
          </a:p>
        </p:txBody>
      </p:sp>
      <p:sp>
        <p:nvSpPr>
          <p:cNvPr id="7" name="pipeline register"/>
          <p:cNvSpPr/>
          <p:nvPr/>
        </p:nvSpPr>
        <p:spPr>
          <a:xfrm>
            <a:off x="2011680" y="3749040"/>
            <a:ext cx="91440" cy="822960"/>
          </a:xfrm>
          <a:prstGeom prst="rect">
            <a:avLst/>
          </a:prstGeom>
          <a:solidFill>
            <a:schemeClr val="bg2"/>
          </a:solidFill>
          <a:ln w="12700">
            <a:solidFill>
              <a:schemeClr val="bg2"/>
            </a:solidFill>
            <a:prstDash val="solid"/>
          </a:ln>
        </p:spPr>
      </p:sp>
      <p:sp>
        <p:nvSpPr>
          <p:cNvPr id="8" name="stage ID"/>
          <p:cNvSpPr/>
          <p:nvPr/>
        </p:nvSpPr>
        <p:spPr>
          <a:xfrm>
            <a:off x="2212848" y="3840480"/>
            <a:ext cx="1188720" cy="640080"/>
          </a:xfrm>
          <a:prstGeom prst="roundRect">
            <a:avLst>
              <a:gd name="adj" fmla="val 14286"/>
            </a:avLst>
          </a:prstGeom>
          <a:solidFill>
            <a:schemeClr val="accent6"/>
          </a:solidFill>
          <a:ln w="12700">
            <a:solidFill>
              <a:schemeClr val="accent6"/>
            </a:solidFill>
            <a:prstDash val="solid"/>
          </a:ln>
        </p:spPr>
      </p:sp>
      <p:sp>
        <p:nvSpPr>
          <p:cNvPr id="9" name="Text 7"/>
          <p:cNvSpPr txBox="1"/>
          <p:nvPr/>
        </p:nvSpPr>
        <p:spPr>
          <a:xfrm>
            <a:off x="2212848" y="3840480"/>
            <a:ext cx="1188720" cy="640080"/>
          </a:xfrm>
          <a:prstGeom prst="rect">
            <a:avLst/>
          </a:prstGeom>
          <a:noFill/>
          <a:ln/>
        </p:spPr>
        <p:txBody>
          <a:bodyPr wrap="square" lIns="0" tIns="0" rIns="0" bIns="0" rtlCol="0" anchor="ctr"/>
          <a:lstStyle/>
          <a:p>
            <a:pPr algn="ctr" indent="0" marL="0">
              <a:buNone/>
            </a:pPr>
            <a:r>
              <a:rPr lang="en-US" sz="1800" b="1" dirty="0">
                <a:solidFill>
                  <a:schemeClr val="bg1"/>
                </a:solidFill>
              </a:rPr>
              <a:t>ID</a:t>
            </a:r>
            <a:endParaRPr lang="en-US" sz="1800" dirty="0"/>
          </a:p>
        </p:txBody>
      </p:sp>
      <p:sp>
        <p:nvSpPr>
          <p:cNvPr id="10" name="pipeline register"/>
          <p:cNvSpPr/>
          <p:nvPr/>
        </p:nvSpPr>
        <p:spPr>
          <a:xfrm>
            <a:off x="3493008" y="3749040"/>
            <a:ext cx="91440" cy="822960"/>
          </a:xfrm>
          <a:prstGeom prst="rect">
            <a:avLst/>
          </a:prstGeom>
          <a:solidFill>
            <a:schemeClr val="bg2"/>
          </a:solidFill>
          <a:ln w="12700">
            <a:solidFill>
              <a:schemeClr val="bg2"/>
            </a:solidFill>
            <a:prstDash val="solid"/>
          </a:ln>
        </p:spPr>
      </p:sp>
      <p:sp>
        <p:nvSpPr>
          <p:cNvPr id="11" name="stage EX"/>
          <p:cNvSpPr/>
          <p:nvPr/>
        </p:nvSpPr>
        <p:spPr>
          <a:xfrm>
            <a:off x="3694176" y="3840480"/>
            <a:ext cx="1188720" cy="640080"/>
          </a:xfrm>
          <a:prstGeom prst="roundRect">
            <a:avLst>
              <a:gd name="adj" fmla="val 14286"/>
            </a:avLst>
          </a:prstGeom>
          <a:solidFill>
            <a:schemeClr val="accent2"/>
          </a:solidFill>
          <a:ln w="12700">
            <a:solidFill>
              <a:schemeClr val="accent2"/>
            </a:solidFill>
            <a:prstDash val="solid"/>
          </a:ln>
        </p:spPr>
      </p:sp>
      <p:sp>
        <p:nvSpPr>
          <p:cNvPr id="12" name="Text 10"/>
          <p:cNvSpPr txBox="1"/>
          <p:nvPr/>
        </p:nvSpPr>
        <p:spPr>
          <a:xfrm>
            <a:off x="3694176" y="3840480"/>
            <a:ext cx="1188720" cy="640080"/>
          </a:xfrm>
          <a:prstGeom prst="rect">
            <a:avLst/>
          </a:prstGeom>
          <a:noFill/>
          <a:ln/>
        </p:spPr>
        <p:txBody>
          <a:bodyPr wrap="square" lIns="0" tIns="0" rIns="0" bIns="0" rtlCol="0" anchor="ctr"/>
          <a:lstStyle/>
          <a:p>
            <a:pPr algn="ctr" indent="0" marL="0">
              <a:buNone/>
            </a:pPr>
            <a:r>
              <a:rPr lang="en-US" sz="1800" b="1" dirty="0">
                <a:solidFill>
                  <a:schemeClr val="bg1"/>
                </a:solidFill>
              </a:rPr>
              <a:t>EX</a:t>
            </a:r>
            <a:endParaRPr lang="en-US" sz="1800" dirty="0"/>
          </a:p>
        </p:txBody>
      </p:sp>
      <p:sp>
        <p:nvSpPr>
          <p:cNvPr id="13" name="pipeline register"/>
          <p:cNvSpPr/>
          <p:nvPr/>
        </p:nvSpPr>
        <p:spPr>
          <a:xfrm>
            <a:off x="4974336" y="3749040"/>
            <a:ext cx="91440" cy="822960"/>
          </a:xfrm>
          <a:prstGeom prst="rect">
            <a:avLst/>
          </a:prstGeom>
          <a:solidFill>
            <a:schemeClr val="bg2"/>
          </a:solidFill>
          <a:ln w="12700">
            <a:solidFill>
              <a:schemeClr val="bg2"/>
            </a:solidFill>
            <a:prstDash val="solid"/>
          </a:ln>
        </p:spPr>
      </p:sp>
      <p:sp>
        <p:nvSpPr>
          <p:cNvPr id="14" name="stage MEM"/>
          <p:cNvSpPr/>
          <p:nvPr/>
        </p:nvSpPr>
        <p:spPr>
          <a:xfrm>
            <a:off x="5175504" y="3840480"/>
            <a:ext cx="1188720" cy="640080"/>
          </a:xfrm>
          <a:prstGeom prst="roundRect">
            <a:avLst>
              <a:gd name="adj" fmla="val 14286"/>
            </a:avLst>
          </a:prstGeom>
          <a:solidFill>
            <a:schemeClr val="accent4"/>
          </a:solidFill>
          <a:ln w="12700">
            <a:solidFill>
              <a:schemeClr val="accent4"/>
            </a:solidFill>
            <a:prstDash val="solid"/>
          </a:ln>
        </p:spPr>
      </p:sp>
      <p:sp>
        <p:nvSpPr>
          <p:cNvPr id="15" name="Text 13"/>
          <p:cNvSpPr txBox="1"/>
          <p:nvPr/>
        </p:nvSpPr>
        <p:spPr>
          <a:xfrm>
            <a:off x="5175504" y="3840480"/>
            <a:ext cx="1188720" cy="640080"/>
          </a:xfrm>
          <a:prstGeom prst="rect">
            <a:avLst/>
          </a:prstGeom>
          <a:noFill/>
          <a:ln/>
        </p:spPr>
        <p:txBody>
          <a:bodyPr wrap="square" lIns="0" tIns="0" rIns="0" bIns="0" rtlCol="0" anchor="ctr"/>
          <a:lstStyle/>
          <a:p>
            <a:pPr algn="ctr" indent="0" marL="0">
              <a:buNone/>
            </a:pPr>
            <a:r>
              <a:rPr lang="en-US" sz="1800" b="1" dirty="0">
                <a:solidFill>
                  <a:schemeClr val="bg1"/>
                </a:solidFill>
              </a:rPr>
              <a:t>MEM</a:t>
            </a:r>
            <a:endParaRPr lang="en-US" sz="1800" dirty="0"/>
          </a:p>
        </p:txBody>
      </p:sp>
      <p:sp>
        <p:nvSpPr>
          <p:cNvPr id="16" name="pipeline register"/>
          <p:cNvSpPr/>
          <p:nvPr/>
        </p:nvSpPr>
        <p:spPr>
          <a:xfrm>
            <a:off x="6455664" y="3749040"/>
            <a:ext cx="91440" cy="822960"/>
          </a:xfrm>
          <a:prstGeom prst="rect">
            <a:avLst/>
          </a:prstGeom>
          <a:solidFill>
            <a:schemeClr val="bg2"/>
          </a:solidFill>
          <a:ln w="12700">
            <a:solidFill>
              <a:schemeClr val="bg2"/>
            </a:solidFill>
            <a:prstDash val="solid"/>
          </a:ln>
        </p:spPr>
      </p:sp>
      <p:sp>
        <p:nvSpPr>
          <p:cNvPr id="17" name="stage WB"/>
          <p:cNvSpPr/>
          <p:nvPr/>
        </p:nvSpPr>
        <p:spPr>
          <a:xfrm>
            <a:off x="6656832" y="3840480"/>
            <a:ext cx="1188720" cy="640080"/>
          </a:xfrm>
          <a:prstGeom prst="roundRect">
            <a:avLst>
              <a:gd name="adj" fmla="val 14286"/>
            </a:avLst>
          </a:prstGeom>
          <a:solidFill>
            <a:schemeClr val="accent5"/>
          </a:solidFill>
          <a:ln w="12700">
            <a:solidFill>
              <a:schemeClr val="accent5"/>
            </a:solidFill>
            <a:prstDash val="solid"/>
          </a:ln>
        </p:spPr>
      </p:sp>
      <p:sp>
        <p:nvSpPr>
          <p:cNvPr id="18" name="Text 16"/>
          <p:cNvSpPr txBox="1"/>
          <p:nvPr/>
        </p:nvSpPr>
        <p:spPr>
          <a:xfrm>
            <a:off x="6656832" y="3840480"/>
            <a:ext cx="1188720" cy="640080"/>
          </a:xfrm>
          <a:prstGeom prst="rect">
            <a:avLst/>
          </a:prstGeom>
          <a:noFill/>
          <a:ln/>
        </p:spPr>
        <p:txBody>
          <a:bodyPr wrap="square" lIns="0" tIns="0" rIns="0" bIns="0" rtlCol="0" anchor="ctr"/>
          <a:lstStyle/>
          <a:p>
            <a:pPr algn="ctr" indent="0" marL="0">
              <a:buNone/>
            </a:pPr>
            <a:r>
              <a:rPr lang="en-US" sz="1800" b="1" dirty="0">
                <a:solidFill>
                  <a:schemeClr val="bg1"/>
                </a:solidFill>
              </a:rPr>
              <a:t>WB</a:t>
            </a:r>
            <a:endParaRPr lang="en-US" sz="1800" dirty="0"/>
          </a:p>
        </p:txBody>
      </p:sp>
      <p:sp>
        <p:nvSpPr>
          <p:cNvPr id="19" name="Text 17"/>
          <p:cNvSpPr txBox="1"/>
          <p:nvPr/>
        </p:nvSpPr>
        <p:spPr>
          <a:xfrm>
            <a:off x="731520" y="4937760"/>
            <a:ext cx="7315200" cy="109728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Tran Duy (SE193143)</a:t>
            </a:r>
            <a:endParaRPr lang="en-US" sz="1600" dirty="0"/>
          </a:p>
          <a:p>
            <a:pPr indent="0" marL="0">
              <a:spcAft>
                <a:spcPts val="400"/>
              </a:spcAft>
              <a:buNone/>
            </a:pPr>
            <a:r>
              <a:rPr lang="en-US" sz="1600" dirty="0">
                <a:solidFill>
                  <a:schemeClr val="bg1"/>
                </a:solidFill>
              </a:rPr>
              <a:t>Semiconductor &amp; VLSI Industry Readiness Program</a:t>
            </a:r>
            <a:endParaRPr lang="en-US" sz="1600" dirty="0"/>
          </a:p>
          <a:p>
            <a:pPr indent="0" marL="0">
              <a:spcAft>
                <a:spcPts val="400"/>
              </a:spcAft>
              <a:buNone/>
            </a:pPr>
            <a:r>
              <a:rPr lang="en-US" sz="1600" dirty="0">
                <a:solidFill>
                  <a:schemeClr val="bg1"/>
                </a:solidFill>
              </a:rPr>
              <a:t>Instructor: Mr Shivashish Pal</a:t>
            </a:r>
            <a:endParaRPr lang="en-US" sz="1600" dirty="0"/>
          </a:p>
        </p:txBody>
      </p:sp>
      <p:sp>
        <p:nvSpPr>
          <p:cNvPr id="20" name="Text 18"/>
          <p:cNvSpPr txBox="1"/>
          <p:nvPr/>
        </p:nvSpPr>
        <p:spPr>
          <a:xfrm>
            <a:off x="7863840" y="5989320"/>
            <a:ext cx="3749040" cy="365760"/>
          </a:xfrm>
          <a:prstGeom prst="rect">
            <a:avLst/>
          </a:prstGeom>
          <a:noFill/>
          <a:ln/>
        </p:spPr>
        <p:txBody>
          <a:bodyPr wrap="square" lIns="0" tIns="0" rIns="0" bIns="0" rtlCol="0" anchor="t"/>
          <a:lstStyle/>
          <a:p>
            <a:pPr algn="r" indent="0" marL="0">
              <a:buNone/>
            </a:pPr>
            <a:r>
              <a:rPr lang="en-US" sz="1300" dirty="0">
                <a:solidFill>
                  <a:schemeClr val="bg2"/>
                </a:solidFill>
              </a:rPr>
              <a:t>AMD Vivado 2026.1  •  Artix-7 xc7a35t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Project at a glance</a:t>
            </a:r>
            <a:endParaRPr lang="en-US" sz="3200" dirty="0"/>
          </a:p>
        </p:txBody>
      </p:sp>
      <p:sp>
        <p:nvSpPr>
          <p:cNvPr id="3" name="stat instructions"/>
          <p:cNvSpPr/>
          <p:nvPr/>
        </p:nvSpPr>
        <p:spPr>
          <a:xfrm>
            <a:off x="548640" y="1371600"/>
            <a:ext cx="2560320" cy="2103120"/>
          </a:xfrm>
          <a:prstGeom prst="roundRect">
            <a:avLst>
              <a:gd name="adj" fmla="val 5217"/>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4" name="Text 2"/>
          <p:cNvSpPr txBox="1"/>
          <p:nvPr/>
        </p:nvSpPr>
        <p:spPr>
          <a:xfrm>
            <a:off x="777240" y="1554480"/>
            <a:ext cx="210312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16</a:t>
            </a:r>
            <a:endParaRPr lang="en-US" sz="4800" dirty="0"/>
          </a:p>
        </p:txBody>
      </p:sp>
      <p:sp>
        <p:nvSpPr>
          <p:cNvPr id="5" name="Text 3"/>
          <p:cNvSpPr txBox="1"/>
          <p:nvPr/>
        </p:nvSpPr>
        <p:spPr>
          <a:xfrm>
            <a:off x="777240" y="2468880"/>
            <a:ext cx="2103120" cy="365760"/>
          </a:xfrm>
          <a:prstGeom prst="rect">
            <a:avLst/>
          </a:prstGeom>
          <a:noFill/>
          <a:ln/>
        </p:spPr>
        <p:txBody>
          <a:bodyPr wrap="square" lIns="0" tIns="0" rIns="0" bIns="0" rtlCol="0" anchor="t"/>
          <a:lstStyle/>
          <a:p>
            <a:pPr indent="0" marL="0">
              <a:buNone/>
            </a:pPr>
            <a:r>
              <a:rPr lang="en-US" sz="1700" b="1" dirty="0">
                <a:solidFill>
                  <a:schemeClr val="tx2"/>
                </a:solidFill>
              </a:rPr>
              <a:t>instructions</a:t>
            </a:r>
            <a:endParaRPr lang="en-US" sz="1700" dirty="0"/>
          </a:p>
        </p:txBody>
      </p:sp>
      <p:sp>
        <p:nvSpPr>
          <p:cNvPr id="6" name="Text 4"/>
          <p:cNvSpPr txBox="1"/>
          <p:nvPr/>
        </p:nvSpPr>
        <p:spPr>
          <a:xfrm>
            <a:off x="777240" y="2880360"/>
            <a:ext cx="2194560" cy="365760"/>
          </a:xfrm>
          <a:prstGeom prst="rect">
            <a:avLst/>
          </a:prstGeom>
          <a:noFill/>
          <a:ln/>
        </p:spPr>
        <p:txBody>
          <a:bodyPr wrap="square" lIns="0" tIns="0" rIns="0" bIns="0" rtlCol="0" anchor="t"/>
          <a:lstStyle/>
          <a:p>
            <a:pPr indent="0" marL="0">
              <a:buNone/>
            </a:pPr>
            <a:r>
              <a:rPr lang="en-US" sz="1300" dirty="0">
                <a:solidFill>
                  <a:schemeClr val="tx1"/>
                </a:solidFill>
              </a:rPr>
              <a:t>custom 8-bit RISC ISA</a:t>
            </a:r>
            <a:endParaRPr lang="en-US" sz="1300" dirty="0"/>
          </a:p>
        </p:txBody>
      </p:sp>
      <p:sp>
        <p:nvSpPr>
          <p:cNvPr id="7" name="stat registers"/>
          <p:cNvSpPr/>
          <p:nvPr/>
        </p:nvSpPr>
        <p:spPr>
          <a:xfrm>
            <a:off x="3364992" y="1371600"/>
            <a:ext cx="2560320" cy="2103120"/>
          </a:xfrm>
          <a:prstGeom prst="roundRect">
            <a:avLst>
              <a:gd name="adj" fmla="val 5217"/>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8" name="Text 6"/>
          <p:cNvSpPr txBox="1"/>
          <p:nvPr/>
        </p:nvSpPr>
        <p:spPr>
          <a:xfrm>
            <a:off x="3593592" y="1554480"/>
            <a:ext cx="210312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8</a:t>
            </a:r>
            <a:endParaRPr lang="en-US" sz="4800" dirty="0"/>
          </a:p>
        </p:txBody>
      </p:sp>
      <p:sp>
        <p:nvSpPr>
          <p:cNvPr id="9" name="Text 7"/>
          <p:cNvSpPr txBox="1"/>
          <p:nvPr/>
        </p:nvSpPr>
        <p:spPr>
          <a:xfrm>
            <a:off x="3593592" y="2468880"/>
            <a:ext cx="2103120" cy="365760"/>
          </a:xfrm>
          <a:prstGeom prst="rect">
            <a:avLst/>
          </a:prstGeom>
          <a:noFill/>
          <a:ln/>
        </p:spPr>
        <p:txBody>
          <a:bodyPr wrap="square" lIns="0" tIns="0" rIns="0" bIns="0" rtlCol="0" anchor="t"/>
          <a:lstStyle/>
          <a:p>
            <a:pPr indent="0" marL="0">
              <a:buNone/>
            </a:pPr>
            <a:r>
              <a:rPr lang="en-US" sz="1700" b="1" dirty="0">
                <a:solidFill>
                  <a:schemeClr val="tx2"/>
                </a:solidFill>
              </a:rPr>
              <a:t>registers</a:t>
            </a:r>
            <a:endParaRPr lang="en-US" sz="1700" dirty="0"/>
          </a:p>
        </p:txBody>
      </p:sp>
      <p:sp>
        <p:nvSpPr>
          <p:cNvPr id="10" name="Text 8"/>
          <p:cNvSpPr txBox="1"/>
          <p:nvPr/>
        </p:nvSpPr>
        <p:spPr>
          <a:xfrm>
            <a:off x="3593592" y="2880360"/>
            <a:ext cx="2194560" cy="365760"/>
          </a:xfrm>
          <a:prstGeom prst="rect">
            <a:avLst/>
          </a:prstGeom>
          <a:noFill/>
          <a:ln/>
        </p:spPr>
        <p:txBody>
          <a:bodyPr wrap="square" lIns="0" tIns="0" rIns="0" bIns="0" rtlCol="0" anchor="t"/>
          <a:lstStyle/>
          <a:p>
            <a:pPr indent="0" marL="0">
              <a:buNone/>
            </a:pPr>
            <a:r>
              <a:rPr lang="en-US" sz="1300" dirty="0">
                <a:solidFill>
                  <a:schemeClr val="tx1"/>
                </a:solidFill>
              </a:rPr>
              <a:t>8-bit, R0–R7</a:t>
            </a:r>
            <a:endParaRPr lang="en-US" sz="1300" dirty="0"/>
          </a:p>
        </p:txBody>
      </p:sp>
      <p:sp>
        <p:nvSpPr>
          <p:cNvPr id="11" name="stat pipeline stages"/>
          <p:cNvSpPr/>
          <p:nvPr/>
        </p:nvSpPr>
        <p:spPr>
          <a:xfrm>
            <a:off x="6181344" y="1371600"/>
            <a:ext cx="2560320" cy="2103120"/>
          </a:xfrm>
          <a:prstGeom prst="roundRect">
            <a:avLst>
              <a:gd name="adj" fmla="val 5217"/>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12" name="Text 10"/>
          <p:cNvSpPr txBox="1"/>
          <p:nvPr/>
        </p:nvSpPr>
        <p:spPr>
          <a:xfrm>
            <a:off x="6409944" y="1554480"/>
            <a:ext cx="210312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5</a:t>
            </a:r>
            <a:endParaRPr lang="en-US" sz="4800" dirty="0"/>
          </a:p>
        </p:txBody>
      </p:sp>
      <p:sp>
        <p:nvSpPr>
          <p:cNvPr id="13" name="Text 11"/>
          <p:cNvSpPr txBox="1"/>
          <p:nvPr/>
        </p:nvSpPr>
        <p:spPr>
          <a:xfrm>
            <a:off x="6409944" y="2468880"/>
            <a:ext cx="2103120" cy="365760"/>
          </a:xfrm>
          <a:prstGeom prst="rect">
            <a:avLst/>
          </a:prstGeom>
          <a:noFill/>
          <a:ln/>
        </p:spPr>
        <p:txBody>
          <a:bodyPr wrap="square" lIns="0" tIns="0" rIns="0" bIns="0" rtlCol="0" anchor="t"/>
          <a:lstStyle/>
          <a:p>
            <a:pPr indent="0" marL="0">
              <a:buNone/>
            </a:pPr>
            <a:r>
              <a:rPr lang="en-US" sz="1700" b="1" dirty="0">
                <a:solidFill>
                  <a:schemeClr val="tx2"/>
                </a:solidFill>
              </a:rPr>
              <a:t>pipeline stages</a:t>
            </a:r>
            <a:endParaRPr lang="en-US" sz="1700" dirty="0"/>
          </a:p>
        </p:txBody>
      </p:sp>
      <p:sp>
        <p:nvSpPr>
          <p:cNvPr id="14" name="Text 12"/>
          <p:cNvSpPr txBox="1"/>
          <p:nvPr/>
        </p:nvSpPr>
        <p:spPr>
          <a:xfrm>
            <a:off x="6409944" y="2880360"/>
            <a:ext cx="2194560" cy="365760"/>
          </a:xfrm>
          <a:prstGeom prst="rect">
            <a:avLst/>
          </a:prstGeom>
          <a:noFill/>
          <a:ln/>
        </p:spPr>
        <p:txBody>
          <a:bodyPr wrap="square" lIns="0" tIns="0" rIns="0" bIns="0" rtlCol="0" anchor="t"/>
          <a:lstStyle/>
          <a:p>
            <a:pPr indent="0" marL="0">
              <a:buNone/>
            </a:pPr>
            <a:r>
              <a:rPr lang="en-US" sz="1300" dirty="0">
                <a:solidFill>
                  <a:schemeClr val="tx1"/>
                </a:solidFill>
              </a:rPr>
              <a:t>IF → ID → EX → MEM → WB</a:t>
            </a:r>
            <a:endParaRPr lang="en-US" sz="1300" dirty="0"/>
          </a:p>
        </p:txBody>
      </p:sp>
      <p:sp>
        <p:nvSpPr>
          <p:cNvPr id="15" name="stat tests passed"/>
          <p:cNvSpPr/>
          <p:nvPr/>
        </p:nvSpPr>
        <p:spPr>
          <a:xfrm>
            <a:off x="8997696" y="1371600"/>
            <a:ext cx="2560320" cy="2103120"/>
          </a:xfrm>
          <a:prstGeom prst="roundRect">
            <a:avLst>
              <a:gd name="adj" fmla="val 5217"/>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16" name="Text 14"/>
          <p:cNvSpPr txBox="1"/>
          <p:nvPr/>
        </p:nvSpPr>
        <p:spPr>
          <a:xfrm>
            <a:off x="9226296" y="1554480"/>
            <a:ext cx="210312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100%</a:t>
            </a:r>
            <a:endParaRPr lang="en-US" sz="4800" dirty="0"/>
          </a:p>
        </p:txBody>
      </p:sp>
      <p:sp>
        <p:nvSpPr>
          <p:cNvPr id="17" name="Text 15"/>
          <p:cNvSpPr txBox="1"/>
          <p:nvPr/>
        </p:nvSpPr>
        <p:spPr>
          <a:xfrm>
            <a:off x="9226296" y="2468880"/>
            <a:ext cx="2103120" cy="365760"/>
          </a:xfrm>
          <a:prstGeom prst="rect">
            <a:avLst/>
          </a:prstGeom>
          <a:noFill/>
          <a:ln/>
        </p:spPr>
        <p:txBody>
          <a:bodyPr wrap="square" lIns="0" tIns="0" rIns="0" bIns="0" rtlCol="0" anchor="t"/>
          <a:lstStyle/>
          <a:p>
            <a:pPr indent="0" marL="0">
              <a:buNone/>
            </a:pPr>
            <a:r>
              <a:rPr lang="en-US" sz="1700" b="1" dirty="0">
                <a:solidFill>
                  <a:schemeClr val="tx2"/>
                </a:solidFill>
              </a:rPr>
              <a:t>tests passed</a:t>
            </a:r>
            <a:endParaRPr lang="en-US" sz="1700" dirty="0"/>
          </a:p>
        </p:txBody>
      </p:sp>
      <p:sp>
        <p:nvSpPr>
          <p:cNvPr id="18" name="Text 16"/>
          <p:cNvSpPr txBox="1"/>
          <p:nvPr/>
        </p:nvSpPr>
        <p:spPr>
          <a:xfrm>
            <a:off x="9226296" y="2880360"/>
            <a:ext cx="2194560" cy="365760"/>
          </a:xfrm>
          <a:prstGeom prst="rect">
            <a:avLst/>
          </a:prstGeom>
          <a:noFill/>
          <a:ln/>
        </p:spPr>
        <p:txBody>
          <a:bodyPr wrap="square" lIns="0" tIns="0" rIns="0" bIns="0" rtlCol="0" anchor="t"/>
          <a:lstStyle/>
          <a:p>
            <a:pPr indent="0" marL="0">
              <a:buNone/>
            </a:pPr>
            <a:r>
              <a:rPr lang="en-US" sz="1300" dirty="0">
                <a:solidFill>
                  <a:schemeClr val="tx1"/>
                </a:solidFill>
              </a:rPr>
              <a:t>9 / 9 automatic checks</a:t>
            </a:r>
            <a:endParaRPr lang="en-US" sz="1300" dirty="0"/>
          </a:p>
        </p:txBody>
      </p:sp>
      <p:sp>
        <p:nvSpPr>
          <p:cNvPr id="19" name="Text 17"/>
          <p:cNvSpPr txBox="1"/>
          <p:nvPr/>
        </p:nvSpPr>
        <p:spPr>
          <a:xfrm>
            <a:off x="548640" y="3840480"/>
            <a:ext cx="5486400" cy="365760"/>
          </a:xfrm>
          <a:prstGeom prst="rect">
            <a:avLst/>
          </a:prstGeom>
          <a:noFill/>
          <a:ln/>
        </p:spPr>
        <p:txBody>
          <a:bodyPr wrap="square" lIns="0" tIns="0" rIns="0" bIns="0" rtlCol="0" anchor="t"/>
          <a:lstStyle/>
          <a:p>
            <a:pPr indent="0" marL="0">
              <a:buNone/>
            </a:pPr>
            <a:r>
              <a:rPr lang="en-US" sz="2000" b="1" dirty="0">
                <a:solidFill>
                  <a:schemeClr val="tx2"/>
                </a:solidFill>
              </a:rPr>
              <a:t>Project goals</a:t>
            </a:r>
            <a:endParaRPr lang="en-US" sz="2000" dirty="0"/>
          </a:p>
        </p:txBody>
      </p:sp>
      <p:sp>
        <p:nvSpPr>
          <p:cNvPr id="20" name="Text 18"/>
          <p:cNvSpPr txBox="1"/>
          <p:nvPr/>
        </p:nvSpPr>
        <p:spPr>
          <a:xfrm>
            <a:off x="548640" y="4297680"/>
            <a:ext cx="10972800" cy="18288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Turn an instruction set into a pipelined micro-architecture in Verilog</a:t>
            </a:r>
            <a:endParaRPr lang="en-US" sz="1600" dirty="0"/>
          </a:p>
          <a:p>
            <a:pPr marL="342900" indent="-342900">
              <a:spcAft>
                <a:spcPts val="600"/>
              </a:spcAft>
              <a:buSzPct val="100000"/>
              <a:buChar char="•"/>
            </a:pPr>
            <a:r>
              <a:rPr lang="en-US" sz="1600" dirty="0">
                <a:solidFill>
                  <a:schemeClr val="tx1"/>
                </a:solidFill>
              </a:rPr>
              <a:t>Resolve pipeline hazards: forwarding, load-use stall, branch flush</a:t>
            </a:r>
            <a:endParaRPr lang="en-US" sz="1600" dirty="0"/>
          </a:p>
          <a:p>
            <a:pPr marL="342900" indent="-342900">
              <a:spcAft>
                <a:spcPts val="600"/>
              </a:spcAft>
              <a:buSzPct val="100000"/>
              <a:buChar char="•"/>
            </a:pPr>
            <a:r>
              <a:rPr lang="en-US" sz="1600" dirty="0">
                <a:solidFill>
                  <a:schemeClr val="tx1"/>
                </a:solidFill>
              </a:rPr>
              <a:t>Prove correctness with a self-checking testbench and waveforms</a:t>
            </a:r>
            <a:endParaRPr lang="en-US" sz="1600" dirty="0"/>
          </a:p>
          <a:p>
            <a:pPr marL="342900" indent="-342900">
              <a:spcAft>
                <a:spcPts val="600"/>
              </a:spcAft>
              <a:buSzPct val="100000"/>
              <a:buChar char="•"/>
            </a:pPr>
            <a:r>
              <a:rPr lang="en-US" sz="1600" dirty="0">
                <a:solidFill>
                  <a:schemeClr val="tx1"/>
                </a:solidFill>
              </a:rPr>
              <a:t>Synthesize in Vivado and analyse resource utilization</a:t>
            </a:r>
            <a:endParaRPr lang="en-US" sz="16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Instruction set: fixed 16-bit instructions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1188720"/>
                <a:gridCol w="3200400"/>
                <a:gridCol w="2560320"/>
              </a:tblGrid>
              <a:tr h="457200">
                <a:tc>
                  <a:txBody>
                    <a:bodyPr/>
                    <a:lstStyle/>
                    <a:p>
                      <a:pPr indent="0" marL="0">
                        <a:buNone/>
                      </a:pPr>
                      <a:r>
                        <a:rPr lang="en-US" sz="1400" b="1" dirty="0">
                          <a:solidFill>
                            <a:schemeClr val="bg1"/>
                          </a:solidFill>
                        </a:rPr>
                        <a:t>Format</a:t>
                      </a:r>
                      <a:endParaRPr lang="en-US" sz="1400" dirty="0"/>
                    </a:p>
                  </a:txBody>
                  <a:tcPr marL="91440" marR="91440" marT="45720" marB="45720"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Bit layout (bit 15 → bit 0)</a:t>
                      </a:r>
                      <a:endParaRPr lang="en-US" sz="1400" dirty="0"/>
                    </a:p>
                  </a:txBody>
                  <a:tcPr marL="91440" marR="91440" marT="45720" marB="45720"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Instructions</a:t>
                      </a:r>
                      <a:endParaRPr lang="en-US" sz="1400" dirty="0"/>
                    </a:p>
                  </a:txBody>
                  <a:tcPr marL="91440" marR="91440" marT="45720" marB="45720"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rPr>
                        <a:t>R-type</a:t>
                      </a:r>
                      <a:endParaRPr lang="en-US" sz="1400" dirty="0"/>
                    </a:p>
                  </a:txBody>
                  <a:tcPr marL="91440" marR="91440" marT="45720" marB="45720"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opcode | rd | rs1 | rs2 | 000</a:t>
                      </a:r>
                      <a:endParaRPr lang="en-US" sz="1400" dirty="0"/>
                    </a:p>
                  </a:txBody>
                  <a:tcPr marL="91440" marR="91440" marT="45720" marB="45720"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ADD  SUB  AND  OR  XOR</a:t>
                      </a:r>
                      <a:endParaRPr lang="en-US" sz="1400" dirty="0"/>
                    </a:p>
                  </a:txBody>
                  <a:tcPr marL="91440" marR="91440" marT="45720" marB="45720"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R1-type</a:t>
                      </a:r>
                      <a:endParaRPr lang="en-US" sz="1400" dirty="0"/>
                    </a:p>
                  </a:txBody>
                  <a:tcPr marL="91440" marR="91440" marT="45720" marB="45720"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opcode | rd | rs1 | 000000</a:t>
                      </a:r>
                      <a:endParaRPr lang="en-US" sz="1400" dirty="0"/>
                    </a:p>
                  </a:txBody>
                  <a:tcPr marL="91440" marR="91440" marT="45720" marB="45720"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SHL  SHR  LD  ST</a:t>
                      </a:r>
                      <a:endParaRPr lang="en-US" sz="1400" dirty="0"/>
                    </a:p>
                  </a:txBody>
                  <a:tcPr marL="91440" marR="91440" marT="45720" marB="45720"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I-type</a:t>
                      </a:r>
                      <a:endParaRPr lang="en-US" sz="1400" dirty="0"/>
                    </a:p>
                  </a:txBody>
                  <a:tcPr marL="91440" marR="91440" marT="45720" marB="45720"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opcode | rd | 0 | imm8</a:t>
                      </a:r>
                      <a:endParaRPr lang="en-US" sz="1400" dirty="0"/>
                    </a:p>
                  </a:txBody>
                  <a:tcPr marL="91440" marR="91440" marT="45720" marB="45720"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LDI  ADDI</a:t>
                      </a:r>
                      <a:endParaRPr lang="en-US" sz="1400" dirty="0"/>
                    </a:p>
                  </a:txBody>
                  <a:tcPr marL="91440" marR="91440" marT="45720" marB="45720"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J-type</a:t>
                      </a:r>
                      <a:endParaRPr lang="en-US" sz="1400" dirty="0"/>
                    </a:p>
                  </a:txBody>
                  <a:tcPr marL="91440" marR="91440" marT="45720" marB="45720"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opcode | 0000 | addr8</a:t>
                      </a:r>
                      <a:endParaRPr lang="en-US" sz="1400" dirty="0"/>
                    </a:p>
                  </a:txBody>
                  <a:tcPr marL="91440" marR="91440" marT="45720" marB="45720"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JMP  BZ  BNZ</a:t>
                      </a:r>
                      <a:endParaRPr lang="en-US" sz="1400" dirty="0"/>
                    </a:p>
                  </a:txBody>
                  <a:tcPr marL="91440" marR="91440" marT="45720" marB="45720" anchor="ctr">
                    <a:lnL w="9525" cap="flat" cmpd="sng" algn="ctr">
                      <a:solidFill>
                        <a:srgbClr val="C9D6D4"/>
                      </a:solidFill>
                      <a:prstDash val="solid"/>
                      <a:round/>
                      <a:headEnd type="none" w="med" len="med"/>
                      <a:tailEnd type="none" w="med" len="med"/>
                    </a:lnL>
                    <a:lnR w="9525" cap="flat" cmpd="sng" algn="ctr">
                      <a:solidFill>
                        <a:srgbClr val="C9D6D4"/>
                      </a:solidFill>
                      <a:prstDash val="solid"/>
                      <a:round/>
                      <a:headEnd type="none" w="med" len="med"/>
                      <a:tailEnd type="none" w="med" len="med"/>
                    </a:lnR>
                    <a:lnT w="9525" cap="flat" cmpd="sng" algn="ctr">
                      <a:solidFill>
                        <a:srgbClr val="C9D6D4"/>
                      </a:solidFill>
                      <a:prstDash val="solid"/>
                      <a:round/>
                      <a:headEnd type="none" w="med" len="med"/>
                      <a:tailEnd type="none" w="med" len="med"/>
                    </a:lnT>
                    <a:lnB w="9525" cap="flat" cmpd="sng" algn="ctr">
                      <a:solidFill>
                        <a:srgbClr val="C9D6D4"/>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3886200"/>
            <a:ext cx="6949440" cy="731520"/>
          </a:xfrm>
          <a:prstGeom prst="rect">
            <a:avLst/>
          </a:prstGeom>
          <a:noFill/>
          <a:ln/>
        </p:spPr>
        <p:txBody>
          <a:bodyPr wrap="square" lIns="0" tIns="0" rIns="0" bIns="0" rtlCol="0" anchor="t"/>
          <a:lstStyle/>
          <a:p>
            <a:pPr indent="0" marL="0">
              <a:buNone/>
            </a:pPr>
            <a:r>
              <a:rPr lang="en-US" sz="1300" i="1" dirty="0">
                <a:solidFill>
                  <a:schemeClr val="accent1"/>
                </a:solidFill>
              </a:rPr>
              <a:t>NOP and HLT use the opcode only. Opcode is always bits [15:12]; register fields never move, so they are decoded before the instruction is known.</a:t>
            </a:r>
            <a:endParaRPr lang="en-US" sz="1300" dirty="0"/>
          </a:p>
        </p:txBody>
      </p:sp>
      <p:sp>
        <p:nvSpPr>
          <p:cNvPr id="5" name="encoding example"/>
          <p:cNvSpPr/>
          <p:nvPr/>
        </p:nvSpPr>
        <p:spPr>
          <a:xfrm>
            <a:off x="7955280" y="1371600"/>
            <a:ext cx="3657600" cy="3246120"/>
          </a:xfrm>
          <a:prstGeom prst="roundRect">
            <a:avLst>
              <a:gd name="adj" fmla="val 3380"/>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6" name="Text 3"/>
          <p:cNvSpPr txBox="1"/>
          <p:nvPr/>
        </p:nvSpPr>
        <p:spPr>
          <a:xfrm>
            <a:off x="8183880" y="1554480"/>
            <a:ext cx="3200400" cy="365760"/>
          </a:xfrm>
          <a:prstGeom prst="rect">
            <a:avLst/>
          </a:prstGeom>
          <a:noFill/>
          <a:ln/>
        </p:spPr>
        <p:txBody>
          <a:bodyPr wrap="square" lIns="0" tIns="0" rIns="0" bIns="0" rtlCol="0" anchor="t"/>
          <a:lstStyle/>
          <a:p>
            <a:pPr indent="0" marL="0">
              <a:buNone/>
            </a:pPr>
            <a:r>
              <a:rPr lang="en-US" sz="1800" b="1" dirty="0">
                <a:solidFill>
                  <a:schemeClr val="tx2"/>
                </a:solidFill>
              </a:rPr>
              <a:t>Encoding example</a:t>
            </a:r>
            <a:endParaRPr lang="en-US" sz="1800" dirty="0"/>
          </a:p>
        </p:txBody>
      </p:sp>
      <p:sp>
        <p:nvSpPr>
          <p:cNvPr id="7" name="Text 4"/>
          <p:cNvSpPr txBox="1"/>
          <p:nvPr/>
        </p:nvSpPr>
        <p:spPr>
          <a:xfrm>
            <a:off x="8183880" y="2057400"/>
            <a:ext cx="3200400" cy="365760"/>
          </a:xfrm>
          <a:prstGeom prst="rect">
            <a:avLst/>
          </a:prstGeom>
          <a:noFill/>
          <a:ln/>
        </p:spPr>
        <p:txBody>
          <a:bodyPr wrap="square" lIns="0" tIns="0" rIns="0" bIns="0" rtlCol="0" anchor="t"/>
          <a:lstStyle/>
          <a:p>
            <a:pPr indent="0" marL="0">
              <a:buNone/>
            </a:pPr>
            <a:r>
              <a:rPr lang="en-US" sz="1600" b="1" dirty="0">
                <a:solidFill>
                  <a:schemeClr val="accent2"/>
                </a:solidFill>
                <a:latin typeface="Courier New" pitchFamily="34" charset="0"/>
                <a:ea typeface="Courier New" pitchFamily="34" charset="-122"/>
                <a:cs typeface="Courier New" pitchFamily="34" charset="-120"/>
              </a:rPr>
              <a:t>LDI R1, 0x3C</a:t>
            </a:r>
            <a:endParaRPr lang="en-US" sz="1600" dirty="0"/>
          </a:p>
        </p:txBody>
      </p:sp>
      <p:sp>
        <p:nvSpPr>
          <p:cNvPr id="8" name="Text 5"/>
          <p:cNvSpPr txBox="1"/>
          <p:nvPr/>
        </p:nvSpPr>
        <p:spPr>
          <a:xfrm>
            <a:off x="8183880" y="2514600"/>
            <a:ext cx="3291840" cy="365760"/>
          </a:xfrm>
          <a:prstGeom prst="rect">
            <a:avLst/>
          </a:prstGeom>
          <a:noFill/>
          <a:ln/>
        </p:spPr>
        <p:txBody>
          <a:bodyPr wrap="square" lIns="0" tIns="0" rIns="0" bIns="0" rtlCol="0" anchor="t"/>
          <a:lstStyle/>
          <a:p>
            <a:pPr indent="0" marL="0">
              <a:buNone/>
            </a:pPr>
            <a:r>
              <a:rPr lang="en-US" sz="1600" b="1" dirty="0">
                <a:solidFill>
                  <a:schemeClr val="accent3"/>
                </a:solidFill>
                <a:latin typeface="Courier New" pitchFamily="34" charset="0"/>
                <a:ea typeface="Courier New" pitchFamily="34" charset="-122"/>
                <a:cs typeface="Courier New" pitchFamily="34" charset="-120"/>
              </a:rPr>
              <a:t>1000</a:t>
            </a:r>
            <a:pPr indent="0" marL="0">
              <a:buNone/>
            </a:pPr>
            <a:r>
              <a:rPr lang="en-US" sz="1600" b="1" dirty="0">
                <a:solidFill>
                  <a:schemeClr val="accent6"/>
                </a:solidFill>
                <a:latin typeface="Courier New" pitchFamily="34" charset="0"/>
                <a:ea typeface="Courier New" pitchFamily="34" charset="-122"/>
                <a:cs typeface="Courier New" pitchFamily="34" charset="-120"/>
              </a:rPr>
              <a:t> 001 0 </a:t>
            </a:r>
            <a:pPr indent="0" marL="0">
              <a:buNone/>
            </a:pPr>
            <a:r>
              <a:rPr lang="en-US" sz="1600" b="1" dirty="0">
                <a:solidFill>
                  <a:schemeClr val="accent2"/>
                </a:solidFill>
                <a:latin typeface="Courier New" pitchFamily="34" charset="0"/>
                <a:ea typeface="Courier New" pitchFamily="34" charset="-122"/>
                <a:cs typeface="Courier New" pitchFamily="34" charset="-120"/>
              </a:rPr>
              <a:t>0011 1100</a:t>
            </a:r>
            <a:endParaRPr lang="en-US" sz="1600" dirty="0"/>
          </a:p>
        </p:txBody>
      </p:sp>
      <p:sp>
        <p:nvSpPr>
          <p:cNvPr id="9" name="Text 6"/>
          <p:cNvSpPr txBox="1"/>
          <p:nvPr/>
        </p:nvSpPr>
        <p:spPr>
          <a:xfrm>
            <a:off x="8183880" y="2971800"/>
            <a:ext cx="3200400" cy="731520"/>
          </a:xfrm>
          <a:prstGeom prst="rect">
            <a:avLst/>
          </a:prstGeom>
          <a:noFill/>
          <a:ln/>
        </p:spPr>
        <p:txBody>
          <a:bodyPr wrap="square" lIns="0" tIns="0" rIns="0" bIns="0" rtlCol="0" anchor="t"/>
          <a:lstStyle/>
          <a:p>
            <a:pPr indent="0" marL="0">
              <a:buNone/>
            </a:pPr>
            <a:r>
              <a:rPr lang="en-US" sz="1400" dirty="0">
                <a:solidFill>
                  <a:schemeClr val="tx1"/>
                </a:solidFill>
              </a:rPr>
              <a:t>opcode LDI | rd = R1 | imm8</a:t>
            </a:r>
            <a:endParaRPr lang="en-US" sz="1400" dirty="0"/>
          </a:p>
          <a:p>
            <a:pPr indent="0" marL="0">
              <a:buNone/>
            </a:pPr>
            <a:r>
              <a:rPr lang="en-US" sz="1400" b="1" dirty="0">
                <a:solidFill>
                  <a:schemeClr val="tx1"/>
                </a:solidFill>
              </a:rPr>
              <a:t>= 0x823C</a:t>
            </a:r>
            <a:endParaRPr lang="en-US" sz="1400" dirty="0"/>
          </a:p>
        </p:txBody>
      </p:sp>
      <p:sp>
        <p:nvSpPr>
          <p:cNvPr id="10" name="Text 7"/>
          <p:cNvSpPr txBox="1"/>
          <p:nvPr/>
        </p:nvSpPr>
        <p:spPr>
          <a:xfrm>
            <a:off x="8183880" y="3794760"/>
            <a:ext cx="3200400" cy="685800"/>
          </a:xfrm>
          <a:prstGeom prst="rect">
            <a:avLst/>
          </a:prstGeom>
          <a:noFill/>
          <a:ln/>
        </p:spPr>
        <p:txBody>
          <a:bodyPr wrap="square" lIns="0" tIns="0" rIns="0" bIns="0" rtlCol="0" anchor="t"/>
          <a:lstStyle/>
          <a:p>
            <a:pPr indent="0" marL="0">
              <a:buNone/>
            </a:pPr>
            <a:r>
              <a:rPr lang="en-US" sz="1300" dirty="0">
                <a:solidFill>
                  <a:schemeClr val="tx1"/>
                </a:solidFill>
              </a:rPr>
              <a:t>Harvard memories: 256 × 16 ROM for code, 256 × 8 RAM for data</a:t>
            </a:r>
            <a:endParaRPr lang="en-US" sz="1300" dirty="0"/>
          </a:p>
        </p:txBody>
      </p:sp>
      <p:sp>
        <p:nvSpPr>
          <p:cNvPr id="11" name="group Arithmetic / logic"/>
          <p:cNvSpPr/>
          <p:nvPr/>
        </p:nvSpPr>
        <p:spPr>
          <a:xfrm>
            <a:off x="548640" y="4937760"/>
            <a:ext cx="3474720" cy="1097280"/>
          </a:xfrm>
          <a:prstGeom prst="roundRect">
            <a:avLst>
              <a:gd name="adj" fmla="val 8333"/>
            </a:avLst>
          </a:prstGeom>
          <a:solidFill>
            <a:schemeClr val="accent3">
              <a:alpha val="15000"/>
            </a:schemeClr>
          </a:solidFill>
          <a:ln w="12700">
            <a:solidFill>
              <a:schemeClr val="accent3"/>
            </a:solidFill>
            <a:prstDash val="solid"/>
          </a:ln>
        </p:spPr>
      </p:sp>
      <p:sp>
        <p:nvSpPr>
          <p:cNvPr id="12" name="Text 9"/>
          <p:cNvSpPr txBox="1"/>
          <p:nvPr/>
        </p:nvSpPr>
        <p:spPr>
          <a:xfrm>
            <a:off x="731520" y="5047488"/>
            <a:ext cx="3108960" cy="365760"/>
          </a:xfrm>
          <a:prstGeom prst="rect">
            <a:avLst/>
          </a:prstGeom>
          <a:noFill/>
          <a:ln/>
        </p:spPr>
        <p:txBody>
          <a:bodyPr wrap="square" lIns="0" tIns="0" rIns="0" bIns="0" rtlCol="0" anchor="t"/>
          <a:lstStyle/>
          <a:p>
            <a:pPr indent="0" marL="0">
              <a:buNone/>
            </a:pPr>
            <a:r>
              <a:rPr lang="en-US" sz="1500" b="1" dirty="0">
                <a:solidFill>
                  <a:schemeClr val="accent3"/>
                </a:solidFill>
              </a:rPr>
              <a:t>Arithmetic / logic</a:t>
            </a:r>
            <a:endParaRPr lang="en-US" sz="1500" dirty="0"/>
          </a:p>
        </p:txBody>
      </p:sp>
      <p:sp>
        <p:nvSpPr>
          <p:cNvPr id="13" name="Text 10"/>
          <p:cNvSpPr txBox="1"/>
          <p:nvPr/>
        </p:nvSpPr>
        <p:spPr>
          <a:xfrm>
            <a:off x="731520" y="5468112"/>
            <a:ext cx="3200400" cy="45720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ADD SUB AND OR XOR SHL SHR ADDI</a:t>
            </a:r>
            <a:endParaRPr lang="en-US" sz="1300" dirty="0"/>
          </a:p>
        </p:txBody>
      </p:sp>
      <p:sp>
        <p:nvSpPr>
          <p:cNvPr id="14" name="group Data movement"/>
          <p:cNvSpPr/>
          <p:nvPr/>
        </p:nvSpPr>
        <p:spPr>
          <a:xfrm>
            <a:off x="4297680" y="4937760"/>
            <a:ext cx="3474720" cy="1097280"/>
          </a:xfrm>
          <a:prstGeom prst="roundRect">
            <a:avLst>
              <a:gd name="adj" fmla="val 8333"/>
            </a:avLst>
          </a:prstGeom>
          <a:solidFill>
            <a:schemeClr val="accent6">
              <a:alpha val="15000"/>
            </a:schemeClr>
          </a:solidFill>
          <a:ln w="12700">
            <a:solidFill>
              <a:schemeClr val="accent6"/>
            </a:solidFill>
            <a:prstDash val="solid"/>
          </a:ln>
        </p:spPr>
      </p:sp>
      <p:sp>
        <p:nvSpPr>
          <p:cNvPr id="15" name="Text 12"/>
          <p:cNvSpPr txBox="1"/>
          <p:nvPr/>
        </p:nvSpPr>
        <p:spPr>
          <a:xfrm>
            <a:off x="4480560" y="5047488"/>
            <a:ext cx="3108960" cy="365760"/>
          </a:xfrm>
          <a:prstGeom prst="rect">
            <a:avLst/>
          </a:prstGeom>
          <a:noFill/>
          <a:ln/>
        </p:spPr>
        <p:txBody>
          <a:bodyPr wrap="square" lIns="0" tIns="0" rIns="0" bIns="0" rtlCol="0" anchor="t"/>
          <a:lstStyle/>
          <a:p>
            <a:pPr indent="0" marL="0">
              <a:buNone/>
            </a:pPr>
            <a:r>
              <a:rPr lang="en-US" sz="1500" b="1" dirty="0">
                <a:solidFill>
                  <a:schemeClr val="accent6"/>
                </a:solidFill>
              </a:rPr>
              <a:t>Data movement</a:t>
            </a:r>
            <a:endParaRPr lang="en-US" sz="1500" dirty="0"/>
          </a:p>
        </p:txBody>
      </p:sp>
      <p:sp>
        <p:nvSpPr>
          <p:cNvPr id="16" name="Text 13"/>
          <p:cNvSpPr txBox="1"/>
          <p:nvPr/>
        </p:nvSpPr>
        <p:spPr>
          <a:xfrm>
            <a:off x="4480560" y="5468112"/>
            <a:ext cx="3200400" cy="45720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LDI  LD  ST</a:t>
            </a:r>
            <a:endParaRPr lang="en-US" sz="1300" dirty="0"/>
          </a:p>
        </p:txBody>
      </p:sp>
      <p:sp>
        <p:nvSpPr>
          <p:cNvPr id="17" name="group Control flow"/>
          <p:cNvSpPr/>
          <p:nvPr/>
        </p:nvSpPr>
        <p:spPr>
          <a:xfrm>
            <a:off x="8046720" y="4937760"/>
            <a:ext cx="3474720" cy="1097280"/>
          </a:xfrm>
          <a:prstGeom prst="roundRect">
            <a:avLst>
              <a:gd name="adj" fmla="val 8333"/>
            </a:avLst>
          </a:prstGeom>
          <a:solidFill>
            <a:schemeClr val="accent2">
              <a:alpha val="15000"/>
            </a:schemeClr>
          </a:solidFill>
          <a:ln w="12700">
            <a:solidFill>
              <a:schemeClr val="accent2"/>
            </a:solidFill>
            <a:prstDash val="solid"/>
          </a:ln>
        </p:spPr>
      </p:sp>
      <p:sp>
        <p:nvSpPr>
          <p:cNvPr id="18" name="Text 15"/>
          <p:cNvSpPr txBox="1"/>
          <p:nvPr/>
        </p:nvSpPr>
        <p:spPr>
          <a:xfrm>
            <a:off x="8229600" y="5047488"/>
            <a:ext cx="3108960" cy="365760"/>
          </a:xfrm>
          <a:prstGeom prst="rect">
            <a:avLst/>
          </a:prstGeom>
          <a:noFill/>
          <a:ln/>
        </p:spPr>
        <p:txBody>
          <a:bodyPr wrap="square" lIns="0" tIns="0" rIns="0" bIns="0" rtlCol="0" anchor="t"/>
          <a:lstStyle/>
          <a:p>
            <a:pPr indent="0" marL="0">
              <a:buNone/>
            </a:pPr>
            <a:r>
              <a:rPr lang="en-US" sz="1500" b="1" dirty="0">
                <a:solidFill>
                  <a:schemeClr val="accent2"/>
                </a:solidFill>
              </a:rPr>
              <a:t>Control flow</a:t>
            </a:r>
            <a:endParaRPr lang="en-US" sz="1500" dirty="0"/>
          </a:p>
        </p:txBody>
      </p:sp>
      <p:sp>
        <p:nvSpPr>
          <p:cNvPr id="19" name="Text 16"/>
          <p:cNvSpPr txBox="1"/>
          <p:nvPr/>
        </p:nvSpPr>
        <p:spPr>
          <a:xfrm>
            <a:off x="8229600" y="5468112"/>
            <a:ext cx="3200400" cy="45720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JMP  BZ  BNZ  HLT  NOP</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Five-stage pipeline architecture</a:t>
            </a:r>
            <a:endParaRPr lang="en-US" sz="3200" dirty="0"/>
          </a:p>
        </p:txBody>
      </p:sp>
      <p:sp>
        <p:nvSpPr>
          <p:cNvPr id="3" name="stage IF"/>
          <p:cNvSpPr/>
          <p:nvPr/>
        </p:nvSpPr>
        <p:spPr>
          <a:xfrm>
            <a:off x="548640" y="1463040"/>
            <a:ext cx="1828800" cy="1828800"/>
          </a:xfrm>
          <a:prstGeom prst="roundRect">
            <a:avLst>
              <a:gd name="adj" fmla="val 6000"/>
            </a:avLst>
          </a:prstGeom>
          <a:solidFill>
            <a:schemeClr val="accent3">
              <a:alpha val="18000"/>
            </a:schemeClr>
          </a:solidFill>
          <a:ln w="19050">
            <a:solidFill>
              <a:schemeClr val="accent3"/>
            </a:solidFill>
            <a:prstDash val="solid"/>
          </a:ln>
        </p:spPr>
      </p:sp>
      <p:sp>
        <p:nvSpPr>
          <p:cNvPr id="4" name="Text 2"/>
          <p:cNvSpPr txBox="1"/>
          <p:nvPr/>
        </p:nvSpPr>
        <p:spPr>
          <a:xfrm>
            <a:off x="548640" y="1600200"/>
            <a:ext cx="1828800" cy="457200"/>
          </a:xfrm>
          <a:prstGeom prst="rect">
            <a:avLst/>
          </a:prstGeom>
          <a:noFill/>
          <a:ln/>
        </p:spPr>
        <p:txBody>
          <a:bodyPr wrap="square" lIns="0" tIns="0" rIns="0" bIns="0" rtlCol="0" anchor="t"/>
          <a:lstStyle/>
          <a:p>
            <a:pPr algn="ctr" indent="0" marL="0">
              <a:buNone/>
            </a:pPr>
            <a:r>
              <a:rPr lang="en-US" sz="2400" b="1" dirty="0">
                <a:solidFill>
                  <a:schemeClr val="accent3"/>
                </a:solidFill>
                <a:latin typeface="Cambria" pitchFamily="34" charset="0"/>
                <a:ea typeface="Cambria" pitchFamily="34" charset="-122"/>
                <a:cs typeface="Cambria" pitchFamily="34" charset="-120"/>
              </a:rPr>
              <a:t>IF</a:t>
            </a:r>
            <a:endParaRPr lang="en-US" sz="2400" dirty="0"/>
          </a:p>
        </p:txBody>
      </p:sp>
      <p:sp>
        <p:nvSpPr>
          <p:cNvPr id="5" name="Text 3"/>
          <p:cNvSpPr txBox="1"/>
          <p:nvPr/>
        </p:nvSpPr>
        <p:spPr>
          <a:xfrm>
            <a:off x="548640" y="21031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Fetch</a:t>
            </a:r>
            <a:endParaRPr lang="en-US" sz="1400" dirty="0"/>
          </a:p>
        </p:txBody>
      </p:sp>
      <p:sp>
        <p:nvSpPr>
          <p:cNvPr id="6" name="Text 4"/>
          <p:cNvSpPr txBox="1"/>
          <p:nvPr/>
        </p:nvSpPr>
        <p:spPr>
          <a:xfrm>
            <a:off x="548640" y="2468880"/>
            <a:ext cx="1828800" cy="685800"/>
          </a:xfrm>
          <a:prstGeom prst="rect">
            <a:avLst/>
          </a:prstGeom>
          <a:noFill/>
          <a:ln/>
        </p:spPr>
        <p:txBody>
          <a:bodyPr wrap="square" lIns="0" tIns="0" rIns="0" bIns="0" rtlCol="0" anchor="t"/>
          <a:lstStyle/>
          <a:p>
            <a:pPr algn="ctr" indent="0" marL="0">
              <a:buNone/>
            </a:pPr>
            <a:r>
              <a:rPr lang="en-US" sz="1300" dirty="0">
                <a:solidFill>
                  <a:schemeClr val="tx1"/>
                </a:solidFill>
              </a:rPr>
              <a:t>PC + imem</a:t>
            </a:r>
            <a:endParaRPr lang="en-US" sz="1300" dirty="0"/>
          </a:p>
        </p:txBody>
      </p:sp>
      <p:sp>
        <p:nvSpPr>
          <p:cNvPr id="7" name="pipeline register"/>
          <p:cNvSpPr/>
          <p:nvPr/>
        </p:nvSpPr>
        <p:spPr>
          <a:xfrm>
            <a:off x="2523744" y="1325880"/>
            <a:ext cx="164592" cy="2103120"/>
          </a:xfrm>
          <a:prstGeom prst="rect">
            <a:avLst/>
          </a:prstGeom>
          <a:solidFill>
            <a:schemeClr val="accent1">
              <a:alpha val="60000"/>
            </a:schemeClr>
          </a:solidFill>
          <a:ln w="9525">
            <a:solidFill>
              <a:schemeClr val="accent1"/>
            </a:solidFill>
            <a:prstDash val="solid"/>
          </a:ln>
        </p:spPr>
      </p:sp>
      <p:sp>
        <p:nvSpPr>
          <p:cNvPr id="8" name="stage ID"/>
          <p:cNvSpPr/>
          <p:nvPr/>
        </p:nvSpPr>
        <p:spPr>
          <a:xfrm>
            <a:off x="2834640" y="1463040"/>
            <a:ext cx="1828800" cy="1828800"/>
          </a:xfrm>
          <a:prstGeom prst="roundRect">
            <a:avLst>
              <a:gd name="adj" fmla="val 6000"/>
            </a:avLst>
          </a:prstGeom>
          <a:solidFill>
            <a:schemeClr val="accent6">
              <a:alpha val="18000"/>
            </a:schemeClr>
          </a:solidFill>
          <a:ln w="19050">
            <a:solidFill>
              <a:schemeClr val="accent6"/>
            </a:solidFill>
            <a:prstDash val="solid"/>
          </a:ln>
        </p:spPr>
      </p:sp>
      <p:sp>
        <p:nvSpPr>
          <p:cNvPr id="9" name="Text 7"/>
          <p:cNvSpPr txBox="1"/>
          <p:nvPr/>
        </p:nvSpPr>
        <p:spPr>
          <a:xfrm>
            <a:off x="2834640" y="1600200"/>
            <a:ext cx="1828800" cy="457200"/>
          </a:xfrm>
          <a:prstGeom prst="rect">
            <a:avLst/>
          </a:prstGeom>
          <a:noFill/>
          <a:ln/>
        </p:spPr>
        <p:txBody>
          <a:bodyPr wrap="square" lIns="0" tIns="0" rIns="0" bIns="0" rtlCol="0" anchor="t"/>
          <a:lstStyle/>
          <a:p>
            <a:pPr algn="ctr" indent="0" marL="0">
              <a:buNone/>
            </a:pPr>
            <a:r>
              <a:rPr lang="en-US" sz="2400" b="1" dirty="0">
                <a:solidFill>
                  <a:schemeClr val="accent6"/>
                </a:solidFill>
                <a:latin typeface="Cambria" pitchFamily="34" charset="0"/>
                <a:ea typeface="Cambria" pitchFamily="34" charset="-122"/>
                <a:cs typeface="Cambria" pitchFamily="34" charset="-120"/>
              </a:rPr>
              <a:t>ID</a:t>
            </a:r>
            <a:endParaRPr lang="en-US" sz="2400" dirty="0"/>
          </a:p>
        </p:txBody>
      </p:sp>
      <p:sp>
        <p:nvSpPr>
          <p:cNvPr id="10" name="Text 8"/>
          <p:cNvSpPr txBox="1"/>
          <p:nvPr/>
        </p:nvSpPr>
        <p:spPr>
          <a:xfrm>
            <a:off x="2834640" y="21031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Decode</a:t>
            </a:r>
            <a:endParaRPr lang="en-US" sz="1400" dirty="0"/>
          </a:p>
        </p:txBody>
      </p:sp>
      <p:sp>
        <p:nvSpPr>
          <p:cNvPr id="11" name="Text 9"/>
          <p:cNvSpPr txBox="1"/>
          <p:nvPr/>
        </p:nvSpPr>
        <p:spPr>
          <a:xfrm>
            <a:off x="2834640" y="2468880"/>
            <a:ext cx="1828800" cy="685800"/>
          </a:xfrm>
          <a:prstGeom prst="rect">
            <a:avLst/>
          </a:prstGeom>
          <a:noFill/>
          <a:ln/>
        </p:spPr>
        <p:txBody>
          <a:bodyPr wrap="square" lIns="0" tIns="0" rIns="0" bIns="0" rtlCol="0" anchor="t"/>
          <a:lstStyle/>
          <a:p>
            <a:pPr algn="ctr" indent="0" marL="0">
              <a:buNone/>
            </a:pPr>
            <a:r>
              <a:rPr lang="en-US" sz="1300" dirty="0">
                <a:solidFill>
                  <a:schemeClr val="tx1"/>
                </a:solidFill>
              </a:rPr>
              <a:t>control_unit</a:t>
            </a:r>
            <a:endParaRPr lang="en-US" sz="1300" dirty="0"/>
          </a:p>
          <a:p>
            <a:pPr algn="ctr" indent="0" marL="0">
              <a:buNone/>
            </a:pPr>
            <a:r>
              <a:rPr lang="en-US" sz="1300" dirty="0">
                <a:solidFill>
                  <a:schemeClr val="tx1"/>
                </a:solidFill>
              </a:rPr>
              <a:t>regfile read</a:t>
            </a:r>
            <a:endParaRPr lang="en-US" sz="1300" dirty="0"/>
          </a:p>
        </p:txBody>
      </p:sp>
      <p:sp>
        <p:nvSpPr>
          <p:cNvPr id="12" name="pipeline register"/>
          <p:cNvSpPr/>
          <p:nvPr/>
        </p:nvSpPr>
        <p:spPr>
          <a:xfrm>
            <a:off x="4809744" y="1325880"/>
            <a:ext cx="164592" cy="2103120"/>
          </a:xfrm>
          <a:prstGeom prst="rect">
            <a:avLst/>
          </a:prstGeom>
          <a:solidFill>
            <a:schemeClr val="accent1">
              <a:alpha val="60000"/>
            </a:schemeClr>
          </a:solidFill>
          <a:ln w="9525">
            <a:solidFill>
              <a:schemeClr val="accent1"/>
            </a:solidFill>
            <a:prstDash val="solid"/>
          </a:ln>
        </p:spPr>
      </p:sp>
      <p:sp>
        <p:nvSpPr>
          <p:cNvPr id="13" name="stage EX"/>
          <p:cNvSpPr/>
          <p:nvPr/>
        </p:nvSpPr>
        <p:spPr>
          <a:xfrm>
            <a:off x="5120640" y="1463040"/>
            <a:ext cx="1828800" cy="1828800"/>
          </a:xfrm>
          <a:prstGeom prst="roundRect">
            <a:avLst>
              <a:gd name="adj" fmla="val 6000"/>
            </a:avLst>
          </a:prstGeom>
          <a:solidFill>
            <a:schemeClr val="accent2">
              <a:alpha val="18000"/>
            </a:schemeClr>
          </a:solidFill>
          <a:ln w="19050">
            <a:solidFill>
              <a:schemeClr val="accent2"/>
            </a:solidFill>
            <a:prstDash val="solid"/>
          </a:ln>
        </p:spPr>
      </p:sp>
      <p:sp>
        <p:nvSpPr>
          <p:cNvPr id="14" name="Text 12"/>
          <p:cNvSpPr txBox="1"/>
          <p:nvPr/>
        </p:nvSpPr>
        <p:spPr>
          <a:xfrm>
            <a:off x="5120640" y="1600200"/>
            <a:ext cx="1828800" cy="457200"/>
          </a:xfrm>
          <a:prstGeom prst="rect">
            <a:avLst/>
          </a:prstGeom>
          <a:noFill/>
          <a:ln/>
        </p:spPr>
        <p:txBody>
          <a:bodyPr wrap="square" lIns="0" tIns="0" rIns="0" bIns="0" rtlCol="0" anchor="t"/>
          <a:lstStyle/>
          <a:p>
            <a:pPr algn="ctr" indent="0" marL="0">
              <a:buNone/>
            </a:pPr>
            <a:r>
              <a:rPr lang="en-US" sz="2400" b="1" dirty="0">
                <a:solidFill>
                  <a:schemeClr val="accent2"/>
                </a:solidFill>
                <a:latin typeface="Cambria" pitchFamily="34" charset="0"/>
                <a:ea typeface="Cambria" pitchFamily="34" charset="-122"/>
                <a:cs typeface="Cambria" pitchFamily="34" charset="-120"/>
              </a:rPr>
              <a:t>EX</a:t>
            </a:r>
            <a:endParaRPr lang="en-US" sz="2400" dirty="0"/>
          </a:p>
        </p:txBody>
      </p:sp>
      <p:sp>
        <p:nvSpPr>
          <p:cNvPr id="15" name="Text 13"/>
          <p:cNvSpPr txBox="1"/>
          <p:nvPr/>
        </p:nvSpPr>
        <p:spPr>
          <a:xfrm>
            <a:off x="5120640" y="21031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Execute</a:t>
            </a:r>
            <a:endParaRPr lang="en-US" sz="1400" dirty="0"/>
          </a:p>
        </p:txBody>
      </p:sp>
      <p:sp>
        <p:nvSpPr>
          <p:cNvPr id="16" name="Text 14"/>
          <p:cNvSpPr txBox="1"/>
          <p:nvPr/>
        </p:nvSpPr>
        <p:spPr>
          <a:xfrm>
            <a:off x="5120640" y="2468880"/>
            <a:ext cx="1828800" cy="685800"/>
          </a:xfrm>
          <a:prstGeom prst="rect">
            <a:avLst/>
          </a:prstGeom>
          <a:noFill/>
          <a:ln/>
        </p:spPr>
        <p:txBody>
          <a:bodyPr wrap="square" lIns="0" tIns="0" rIns="0" bIns="0" rtlCol="0" anchor="t"/>
          <a:lstStyle/>
          <a:p>
            <a:pPr algn="ctr" indent="0" marL="0">
              <a:buNone/>
            </a:pPr>
            <a:r>
              <a:rPr lang="en-US" sz="1300" dirty="0">
                <a:solidFill>
                  <a:schemeClr val="tx1"/>
                </a:solidFill>
              </a:rPr>
              <a:t>forward mux</a:t>
            </a:r>
            <a:endParaRPr lang="en-US" sz="1300" dirty="0"/>
          </a:p>
          <a:p>
            <a:pPr algn="ctr" indent="0" marL="0">
              <a:buNone/>
            </a:pPr>
            <a:r>
              <a:rPr lang="en-US" sz="1300" dirty="0">
                <a:solidFill>
                  <a:schemeClr val="tx1"/>
                </a:solidFill>
              </a:rPr>
              <a:t>ALU, branch</a:t>
            </a:r>
            <a:endParaRPr lang="en-US" sz="1300" dirty="0"/>
          </a:p>
        </p:txBody>
      </p:sp>
      <p:sp>
        <p:nvSpPr>
          <p:cNvPr id="17" name="pipeline register"/>
          <p:cNvSpPr/>
          <p:nvPr/>
        </p:nvSpPr>
        <p:spPr>
          <a:xfrm>
            <a:off x="7095744" y="1325880"/>
            <a:ext cx="164592" cy="2103120"/>
          </a:xfrm>
          <a:prstGeom prst="rect">
            <a:avLst/>
          </a:prstGeom>
          <a:solidFill>
            <a:schemeClr val="accent1">
              <a:alpha val="60000"/>
            </a:schemeClr>
          </a:solidFill>
          <a:ln w="9525">
            <a:solidFill>
              <a:schemeClr val="accent1"/>
            </a:solidFill>
            <a:prstDash val="solid"/>
          </a:ln>
        </p:spPr>
      </p:sp>
      <p:sp>
        <p:nvSpPr>
          <p:cNvPr id="18" name="stage MEM"/>
          <p:cNvSpPr/>
          <p:nvPr/>
        </p:nvSpPr>
        <p:spPr>
          <a:xfrm>
            <a:off x="7406640" y="1463040"/>
            <a:ext cx="1828800" cy="1828800"/>
          </a:xfrm>
          <a:prstGeom prst="roundRect">
            <a:avLst>
              <a:gd name="adj" fmla="val 6000"/>
            </a:avLst>
          </a:prstGeom>
          <a:solidFill>
            <a:schemeClr val="accent4">
              <a:alpha val="18000"/>
            </a:schemeClr>
          </a:solidFill>
          <a:ln w="19050">
            <a:solidFill>
              <a:schemeClr val="accent4"/>
            </a:solidFill>
            <a:prstDash val="solid"/>
          </a:ln>
        </p:spPr>
      </p:sp>
      <p:sp>
        <p:nvSpPr>
          <p:cNvPr id="19" name="Text 17"/>
          <p:cNvSpPr txBox="1"/>
          <p:nvPr/>
        </p:nvSpPr>
        <p:spPr>
          <a:xfrm>
            <a:off x="7406640" y="1600200"/>
            <a:ext cx="1828800" cy="457200"/>
          </a:xfrm>
          <a:prstGeom prst="rect">
            <a:avLst/>
          </a:prstGeom>
          <a:noFill/>
          <a:ln/>
        </p:spPr>
        <p:txBody>
          <a:bodyPr wrap="square" lIns="0" tIns="0" rIns="0" bIns="0" rtlCol="0" anchor="t"/>
          <a:lstStyle/>
          <a:p>
            <a:pPr algn="ctr" indent="0" marL="0">
              <a:buNone/>
            </a:pPr>
            <a:r>
              <a:rPr lang="en-US" sz="2400" b="1" dirty="0">
                <a:solidFill>
                  <a:schemeClr val="accent4"/>
                </a:solidFill>
                <a:latin typeface="Cambria" pitchFamily="34" charset="0"/>
                <a:ea typeface="Cambria" pitchFamily="34" charset="-122"/>
                <a:cs typeface="Cambria" pitchFamily="34" charset="-120"/>
              </a:rPr>
              <a:t>MEM</a:t>
            </a:r>
            <a:endParaRPr lang="en-US" sz="2400" dirty="0"/>
          </a:p>
        </p:txBody>
      </p:sp>
      <p:sp>
        <p:nvSpPr>
          <p:cNvPr id="20" name="Text 18"/>
          <p:cNvSpPr txBox="1"/>
          <p:nvPr/>
        </p:nvSpPr>
        <p:spPr>
          <a:xfrm>
            <a:off x="7406640" y="21031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Memory</a:t>
            </a:r>
            <a:endParaRPr lang="en-US" sz="1400" dirty="0"/>
          </a:p>
        </p:txBody>
      </p:sp>
      <p:sp>
        <p:nvSpPr>
          <p:cNvPr id="21" name="Text 19"/>
          <p:cNvSpPr txBox="1"/>
          <p:nvPr/>
        </p:nvSpPr>
        <p:spPr>
          <a:xfrm>
            <a:off x="7406640" y="2468880"/>
            <a:ext cx="1828800" cy="685800"/>
          </a:xfrm>
          <a:prstGeom prst="rect">
            <a:avLst/>
          </a:prstGeom>
          <a:noFill/>
          <a:ln/>
        </p:spPr>
        <p:txBody>
          <a:bodyPr wrap="square" lIns="0" tIns="0" rIns="0" bIns="0" rtlCol="0" anchor="t"/>
          <a:lstStyle/>
          <a:p>
            <a:pPr algn="ctr" indent="0" marL="0">
              <a:buNone/>
            </a:pPr>
            <a:r>
              <a:rPr lang="en-US" sz="1300" dirty="0">
                <a:solidFill>
                  <a:schemeClr val="tx1"/>
                </a:solidFill>
              </a:rPr>
              <a:t>dmem</a:t>
            </a:r>
            <a:endParaRPr lang="en-US" sz="1300" dirty="0"/>
          </a:p>
          <a:p>
            <a:pPr algn="ctr" indent="0" marL="0">
              <a:buNone/>
            </a:pPr>
            <a:r>
              <a:rPr lang="en-US" sz="1300" dirty="0">
                <a:solidFill>
                  <a:schemeClr val="tx1"/>
                </a:solidFill>
              </a:rPr>
              <a:t>LD / ST</a:t>
            </a:r>
            <a:endParaRPr lang="en-US" sz="1300" dirty="0"/>
          </a:p>
        </p:txBody>
      </p:sp>
      <p:sp>
        <p:nvSpPr>
          <p:cNvPr id="22" name="pipeline register"/>
          <p:cNvSpPr/>
          <p:nvPr/>
        </p:nvSpPr>
        <p:spPr>
          <a:xfrm>
            <a:off x="9381744" y="1325880"/>
            <a:ext cx="164592" cy="2103120"/>
          </a:xfrm>
          <a:prstGeom prst="rect">
            <a:avLst/>
          </a:prstGeom>
          <a:solidFill>
            <a:schemeClr val="accent1">
              <a:alpha val="60000"/>
            </a:schemeClr>
          </a:solidFill>
          <a:ln w="9525">
            <a:solidFill>
              <a:schemeClr val="accent1"/>
            </a:solidFill>
            <a:prstDash val="solid"/>
          </a:ln>
        </p:spPr>
      </p:sp>
      <p:sp>
        <p:nvSpPr>
          <p:cNvPr id="23" name="stage WB"/>
          <p:cNvSpPr/>
          <p:nvPr/>
        </p:nvSpPr>
        <p:spPr>
          <a:xfrm>
            <a:off x="9692640" y="1463040"/>
            <a:ext cx="1828800" cy="1828800"/>
          </a:xfrm>
          <a:prstGeom prst="roundRect">
            <a:avLst>
              <a:gd name="adj" fmla="val 6000"/>
            </a:avLst>
          </a:prstGeom>
          <a:solidFill>
            <a:schemeClr val="accent5">
              <a:alpha val="18000"/>
            </a:schemeClr>
          </a:solidFill>
          <a:ln w="19050">
            <a:solidFill>
              <a:schemeClr val="accent5"/>
            </a:solidFill>
            <a:prstDash val="solid"/>
          </a:ln>
        </p:spPr>
      </p:sp>
      <p:sp>
        <p:nvSpPr>
          <p:cNvPr id="24" name="Text 22"/>
          <p:cNvSpPr txBox="1"/>
          <p:nvPr/>
        </p:nvSpPr>
        <p:spPr>
          <a:xfrm>
            <a:off x="9692640" y="1600200"/>
            <a:ext cx="1828800" cy="457200"/>
          </a:xfrm>
          <a:prstGeom prst="rect">
            <a:avLst/>
          </a:prstGeom>
          <a:noFill/>
          <a:ln/>
        </p:spPr>
        <p:txBody>
          <a:bodyPr wrap="square" lIns="0" tIns="0" rIns="0" bIns="0" rtlCol="0" anchor="t"/>
          <a:lstStyle/>
          <a:p>
            <a:pPr algn="ctr" indent="0" marL="0">
              <a:buNone/>
            </a:pPr>
            <a:r>
              <a:rPr lang="en-US" sz="2400" b="1" dirty="0">
                <a:solidFill>
                  <a:schemeClr val="accent5"/>
                </a:solidFill>
                <a:latin typeface="Cambria" pitchFamily="34" charset="0"/>
                <a:ea typeface="Cambria" pitchFamily="34" charset="-122"/>
                <a:cs typeface="Cambria" pitchFamily="34" charset="-120"/>
              </a:rPr>
              <a:t>WB</a:t>
            </a:r>
            <a:endParaRPr lang="en-US" sz="2400" dirty="0"/>
          </a:p>
        </p:txBody>
      </p:sp>
      <p:sp>
        <p:nvSpPr>
          <p:cNvPr id="25" name="Text 23"/>
          <p:cNvSpPr txBox="1"/>
          <p:nvPr/>
        </p:nvSpPr>
        <p:spPr>
          <a:xfrm>
            <a:off x="9692640" y="21031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Write-back</a:t>
            </a:r>
            <a:endParaRPr lang="en-US" sz="1400" dirty="0"/>
          </a:p>
        </p:txBody>
      </p:sp>
      <p:sp>
        <p:nvSpPr>
          <p:cNvPr id="26" name="Text 24"/>
          <p:cNvSpPr txBox="1"/>
          <p:nvPr/>
        </p:nvSpPr>
        <p:spPr>
          <a:xfrm>
            <a:off x="9692640" y="2468880"/>
            <a:ext cx="1828800" cy="685800"/>
          </a:xfrm>
          <a:prstGeom prst="rect">
            <a:avLst/>
          </a:prstGeom>
          <a:noFill/>
          <a:ln/>
        </p:spPr>
        <p:txBody>
          <a:bodyPr wrap="square" lIns="0" tIns="0" rIns="0" bIns="0" rtlCol="0" anchor="t"/>
          <a:lstStyle/>
          <a:p>
            <a:pPr algn="ctr" indent="0" marL="0">
              <a:buNone/>
            </a:pPr>
            <a:r>
              <a:rPr lang="en-US" sz="1300" dirty="0">
                <a:solidFill>
                  <a:schemeClr val="tx1"/>
                </a:solidFill>
              </a:rPr>
              <a:t>rd ← result</a:t>
            </a:r>
            <a:endParaRPr lang="en-US" sz="1300" dirty="0"/>
          </a:p>
        </p:txBody>
      </p:sp>
      <p:sp>
        <p:nvSpPr>
          <p:cNvPr id="27" name="Text 25"/>
          <p:cNvSpPr txBox="1"/>
          <p:nvPr/>
        </p:nvSpPr>
        <p:spPr>
          <a:xfrm>
            <a:off x="548640" y="3566160"/>
            <a:ext cx="11064240" cy="365760"/>
          </a:xfrm>
          <a:prstGeom prst="rect">
            <a:avLst/>
          </a:prstGeom>
          <a:noFill/>
          <a:ln/>
        </p:spPr>
        <p:txBody>
          <a:bodyPr wrap="square" lIns="0" tIns="0" rIns="0" bIns="0" rtlCol="0" anchor="t"/>
          <a:lstStyle/>
          <a:p>
            <a:pPr indent="0" marL="0">
              <a:buNone/>
            </a:pPr>
            <a:r>
              <a:rPr lang="en-US" sz="1300" i="1" dirty="0">
                <a:solidFill>
                  <a:schemeClr val="accent1"/>
                </a:solidFill>
              </a:rPr>
              <a:t>Pipeline registers (IF/ID, ID/EX, EX/MEM, MEM/WB) carry each instruction plus a valid bit; valid = 0 is a bubble</a:t>
            </a:r>
            <a:endParaRPr lang="en-US" sz="1300" dirty="0"/>
          </a:p>
        </p:txBody>
      </p:sp>
      <p:sp>
        <p:nvSpPr>
          <p:cNvPr id="28" name="module alu.v"/>
          <p:cNvSpPr/>
          <p:nvPr/>
        </p:nvSpPr>
        <p:spPr>
          <a:xfrm>
            <a:off x="548640" y="4160520"/>
            <a:ext cx="3520440" cy="868680"/>
          </a:xfrm>
          <a:prstGeom prst="roundRect">
            <a:avLst>
              <a:gd name="adj" fmla="val 12632"/>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29" name="Text 27"/>
          <p:cNvSpPr txBox="1"/>
          <p:nvPr/>
        </p:nvSpPr>
        <p:spPr>
          <a:xfrm>
            <a:off x="731520" y="4251960"/>
            <a:ext cx="2331720" cy="347472"/>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alu.v</a:t>
            </a:r>
            <a:endParaRPr lang="en-US" sz="1400" dirty="0"/>
          </a:p>
        </p:txBody>
      </p:sp>
      <p:sp>
        <p:nvSpPr>
          <p:cNvPr id="30" name="Text 28"/>
          <p:cNvSpPr txBox="1"/>
          <p:nvPr/>
        </p:nvSpPr>
        <p:spPr>
          <a:xfrm>
            <a:off x="3063240" y="4279392"/>
            <a:ext cx="868680" cy="274320"/>
          </a:xfrm>
          <a:prstGeom prst="rect">
            <a:avLst/>
          </a:prstGeom>
          <a:noFill/>
          <a:ln/>
        </p:spPr>
        <p:txBody>
          <a:bodyPr wrap="square" lIns="0" tIns="0" rIns="0" bIns="0" rtlCol="0" anchor="t"/>
          <a:lstStyle/>
          <a:p>
            <a:pPr algn="r" indent="0" marL="0">
              <a:buNone/>
            </a:pPr>
            <a:r>
              <a:rPr lang="en-US" sz="1100" dirty="0">
                <a:solidFill>
                  <a:schemeClr val="accent2"/>
                </a:solidFill>
              </a:rPr>
              <a:t>combinational</a:t>
            </a:r>
            <a:endParaRPr lang="en-US" sz="1100" dirty="0"/>
          </a:p>
        </p:txBody>
      </p:sp>
      <p:sp>
        <p:nvSpPr>
          <p:cNvPr id="31" name="Text 29"/>
          <p:cNvSpPr txBox="1"/>
          <p:nvPr/>
        </p:nvSpPr>
        <p:spPr>
          <a:xfrm>
            <a:off x="731520" y="4617720"/>
            <a:ext cx="3200400" cy="320040"/>
          </a:xfrm>
          <a:prstGeom prst="rect">
            <a:avLst/>
          </a:prstGeom>
          <a:noFill/>
          <a:ln/>
        </p:spPr>
        <p:txBody>
          <a:bodyPr wrap="square" lIns="0" tIns="0" rIns="0" bIns="0" rtlCol="0" anchor="t"/>
          <a:lstStyle/>
          <a:p>
            <a:pPr indent="0" marL="0">
              <a:buNone/>
            </a:pPr>
            <a:r>
              <a:rPr lang="en-US" sz="1300" dirty="0">
                <a:solidFill>
                  <a:schemeClr val="tx1"/>
                </a:solidFill>
              </a:rPr>
              <a:t>8 operations, Z &amp; C flags</a:t>
            </a:r>
            <a:endParaRPr lang="en-US" sz="1300" dirty="0"/>
          </a:p>
        </p:txBody>
      </p:sp>
      <p:sp>
        <p:nvSpPr>
          <p:cNvPr id="32" name="module regfile.v"/>
          <p:cNvSpPr/>
          <p:nvPr/>
        </p:nvSpPr>
        <p:spPr>
          <a:xfrm>
            <a:off x="4297680" y="4160520"/>
            <a:ext cx="3520440" cy="868680"/>
          </a:xfrm>
          <a:prstGeom prst="roundRect">
            <a:avLst>
              <a:gd name="adj" fmla="val 12632"/>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33" name="Text 31"/>
          <p:cNvSpPr txBox="1"/>
          <p:nvPr/>
        </p:nvSpPr>
        <p:spPr>
          <a:xfrm>
            <a:off x="4480560" y="4251960"/>
            <a:ext cx="2331720" cy="347472"/>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regfile.v</a:t>
            </a:r>
            <a:endParaRPr lang="en-US" sz="1400" dirty="0"/>
          </a:p>
        </p:txBody>
      </p:sp>
      <p:sp>
        <p:nvSpPr>
          <p:cNvPr id="34" name="Text 32"/>
          <p:cNvSpPr txBox="1"/>
          <p:nvPr/>
        </p:nvSpPr>
        <p:spPr>
          <a:xfrm>
            <a:off x="6812280" y="4279392"/>
            <a:ext cx="868680" cy="274320"/>
          </a:xfrm>
          <a:prstGeom prst="rect">
            <a:avLst/>
          </a:prstGeom>
          <a:noFill/>
          <a:ln/>
        </p:spPr>
        <p:txBody>
          <a:bodyPr wrap="square" lIns="0" tIns="0" rIns="0" bIns="0" rtlCol="0" anchor="t"/>
          <a:lstStyle/>
          <a:p>
            <a:pPr algn="r" indent="0" marL="0">
              <a:buNone/>
            </a:pPr>
            <a:r>
              <a:rPr lang="en-US" sz="1100" dirty="0">
                <a:solidFill>
                  <a:schemeClr val="accent2"/>
                </a:solidFill>
              </a:rPr>
              <a:t>sequential</a:t>
            </a:r>
            <a:endParaRPr lang="en-US" sz="1100" dirty="0"/>
          </a:p>
        </p:txBody>
      </p:sp>
      <p:sp>
        <p:nvSpPr>
          <p:cNvPr id="35" name="Text 33"/>
          <p:cNvSpPr txBox="1"/>
          <p:nvPr/>
        </p:nvSpPr>
        <p:spPr>
          <a:xfrm>
            <a:off x="4480560" y="4617720"/>
            <a:ext cx="3200400" cy="320040"/>
          </a:xfrm>
          <a:prstGeom prst="rect">
            <a:avLst/>
          </a:prstGeom>
          <a:noFill/>
          <a:ln/>
        </p:spPr>
        <p:txBody>
          <a:bodyPr wrap="square" lIns="0" tIns="0" rIns="0" bIns="0" rtlCol="0" anchor="t"/>
          <a:lstStyle/>
          <a:p>
            <a:pPr indent="0" marL="0">
              <a:buNone/>
            </a:pPr>
            <a:r>
              <a:rPr lang="en-US" sz="1300" dirty="0">
                <a:solidFill>
                  <a:schemeClr val="tx1"/>
                </a:solidFill>
              </a:rPr>
              <a:t>8×8-bit, 2 read / 1 write + bypass</a:t>
            </a:r>
            <a:endParaRPr lang="en-US" sz="1300" dirty="0"/>
          </a:p>
        </p:txBody>
      </p:sp>
      <p:sp>
        <p:nvSpPr>
          <p:cNvPr id="36" name="module control_unit.v"/>
          <p:cNvSpPr/>
          <p:nvPr/>
        </p:nvSpPr>
        <p:spPr>
          <a:xfrm>
            <a:off x="8046720" y="4160520"/>
            <a:ext cx="3520440" cy="868680"/>
          </a:xfrm>
          <a:prstGeom prst="roundRect">
            <a:avLst>
              <a:gd name="adj" fmla="val 12632"/>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37" name="Text 35"/>
          <p:cNvSpPr txBox="1"/>
          <p:nvPr/>
        </p:nvSpPr>
        <p:spPr>
          <a:xfrm>
            <a:off x="8229600" y="4251960"/>
            <a:ext cx="2331720" cy="347472"/>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control_unit.v</a:t>
            </a:r>
            <a:endParaRPr lang="en-US" sz="1400" dirty="0"/>
          </a:p>
        </p:txBody>
      </p:sp>
      <p:sp>
        <p:nvSpPr>
          <p:cNvPr id="38" name="Text 36"/>
          <p:cNvSpPr txBox="1"/>
          <p:nvPr/>
        </p:nvSpPr>
        <p:spPr>
          <a:xfrm>
            <a:off x="10561320" y="4279392"/>
            <a:ext cx="868680" cy="274320"/>
          </a:xfrm>
          <a:prstGeom prst="rect">
            <a:avLst/>
          </a:prstGeom>
          <a:noFill/>
          <a:ln/>
        </p:spPr>
        <p:txBody>
          <a:bodyPr wrap="square" lIns="0" tIns="0" rIns="0" bIns="0" rtlCol="0" anchor="t"/>
          <a:lstStyle/>
          <a:p>
            <a:pPr algn="r" indent="0" marL="0">
              <a:buNone/>
            </a:pPr>
            <a:r>
              <a:rPr lang="en-US" sz="1100" dirty="0">
                <a:solidFill>
                  <a:schemeClr val="accent2"/>
                </a:solidFill>
              </a:rPr>
              <a:t>combinational</a:t>
            </a:r>
            <a:endParaRPr lang="en-US" sz="1100" dirty="0"/>
          </a:p>
        </p:txBody>
      </p:sp>
      <p:sp>
        <p:nvSpPr>
          <p:cNvPr id="39" name="Text 37"/>
          <p:cNvSpPr txBox="1"/>
          <p:nvPr/>
        </p:nvSpPr>
        <p:spPr>
          <a:xfrm>
            <a:off x="8229600" y="4617720"/>
            <a:ext cx="3200400" cy="320040"/>
          </a:xfrm>
          <a:prstGeom prst="rect">
            <a:avLst/>
          </a:prstGeom>
          <a:noFill/>
          <a:ln/>
        </p:spPr>
        <p:txBody>
          <a:bodyPr wrap="square" lIns="0" tIns="0" rIns="0" bIns="0" rtlCol="0" anchor="t"/>
          <a:lstStyle/>
          <a:p>
            <a:pPr indent="0" marL="0">
              <a:buNone/>
            </a:pPr>
            <a:r>
              <a:rPr lang="en-US" sz="1300" dirty="0">
                <a:solidFill>
                  <a:schemeClr val="tx1"/>
                </a:solidFill>
              </a:rPr>
              <a:t>opcode → control signals</a:t>
            </a:r>
            <a:endParaRPr lang="en-US" sz="1300" dirty="0"/>
          </a:p>
        </p:txBody>
      </p:sp>
      <p:sp>
        <p:nvSpPr>
          <p:cNvPr id="40" name="module hazard_unit.v"/>
          <p:cNvSpPr/>
          <p:nvPr/>
        </p:nvSpPr>
        <p:spPr>
          <a:xfrm>
            <a:off x="548640" y="5212080"/>
            <a:ext cx="3520440" cy="868680"/>
          </a:xfrm>
          <a:prstGeom prst="roundRect">
            <a:avLst>
              <a:gd name="adj" fmla="val 12632"/>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41" name="Text 39"/>
          <p:cNvSpPr txBox="1"/>
          <p:nvPr/>
        </p:nvSpPr>
        <p:spPr>
          <a:xfrm>
            <a:off x="731520" y="5303520"/>
            <a:ext cx="2331720" cy="347472"/>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hazard_unit.v</a:t>
            </a:r>
            <a:endParaRPr lang="en-US" sz="1400" dirty="0"/>
          </a:p>
        </p:txBody>
      </p:sp>
      <p:sp>
        <p:nvSpPr>
          <p:cNvPr id="42" name="Text 40"/>
          <p:cNvSpPr txBox="1"/>
          <p:nvPr/>
        </p:nvSpPr>
        <p:spPr>
          <a:xfrm>
            <a:off x="3063240" y="5330952"/>
            <a:ext cx="868680" cy="274320"/>
          </a:xfrm>
          <a:prstGeom prst="rect">
            <a:avLst/>
          </a:prstGeom>
          <a:noFill/>
          <a:ln/>
        </p:spPr>
        <p:txBody>
          <a:bodyPr wrap="square" lIns="0" tIns="0" rIns="0" bIns="0" rtlCol="0" anchor="t"/>
          <a:lstStyle/>
          <a:p>
            <a:pPr algn="r" indent="0" marL="0">
              <a:buNone/>
            </a:pPr>
            <a:r>
              <a:rPr lang="en-US" sz="1100" dirty="0">
                <a:solidFill>
                  <a:schemeClr val="accent2"/>
                </a:solidFill>
              </a:rPr>
              <a:t>combinational</a:t>
            </a:r>
            <a:endParaRPr lang="en-US" sz="1100" dirty="0"/>
          </a:p>
        </p:txBody>
      </p:sp>
      <p:sp>
        <p:nvSpPr>
          <p:cNvPr id="43" name="Text 41"/>
          <p:cNvSpPr txBox="1"/>
          <p:nvPr/>
        </p:nvSpPr>
        <p:spPr>
          <a:xfrm>
            <a:off x="731520" y="5669280"/>
            <a:ext cx="3200400" cy="320040"/>
          </a:xfrm>
          <a:prstGeom prst="rect">
            <a:avLst/>
          </a:prstGeom>
          <a:noFill/>
          <a:ln/>
        </p:spPr>
        <p:txBody>
          <a:bodyPr wrap="square" lIns="0" tIns="0" rIns="0" bIns="0" rtlCol="0" anchor="t"/>
          <a:lstStyle/>
          <a:p>
            <a:pPr indent="0" marL="0">
              <a:buNone/>
            </a:pPr>
            <a:r>
              <a:rPr lang="en-US" sz="1300" dirty="0">
                <a:solidFill>
                  <a:schemeClr val="tx1"/>
                </a:solidFill>
              </a:rPr>
              <a:t>forward selects + load-use stall</a:t>
            </a:r>
            <a:endParaRPr lang="en-US" sz="1300" dirty="0"/>
          </a:p>
        </p:txBody>
      </p:sp>
      <p:sp>
        <p:nvSpPr>
          <p:cNvPr id="44" name="module imem.v / dmem.v"/>
          <p:cNvSpPr/>
          <p:nvPr/>
        </p:nvSpPr>
        <p:spPr>
          <a:xfrm>
            <a:off x="4297680" y="5212080"/>
            <a:ext cx="3520440" cy="868680"/>
          </a:xfrm>
          <a:prstGeom prst="roundRect">
            <a:avLst>
              <a:gd name="adj" fmla="val 12632"/>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45" name="Text 43"/>
          <p:cNvSpPr txBox="1"/>
          <p:nvPr/>
        </p:nvSpPr>
        <p:spPr>
          <a:xfrm>
            <a:off x="4480560" y="5303520"/>
            <a:ext cx="2331720" cy="347472"/>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imem.v / dmem.v</a:t>
            </a:r>
            <a:endParaRPr lang="en-US" sz="1400" dirty="0"/>
          </a:p>
        </p:txBody>
      </p:sp>
      <p:sp>
        <p:nvSpPr>
          <p:cNvPr id="46" name="Text 44"/>
          <p:cNvSpPr txBox="1"/>
          <p:nvPr/>
        </p:nvSpPr>
        <p:spPr>
          <a:xfrm>
            <a:off x="6812280" y="5330952"/>
            <a:ext cx="868680" cy="274320"/>
          </a:xfrm>
          <a:prstGeom prst="rect">
            <a:avLst/>
          </a:prstGeom>
          <a:noFill/>
          <a:ln/>
        </p:spPr>
        <p:txBody>
          <a:bodyPr wrap="square" lIns="0" tIns="0" rIns="0" bIns="0" rtlCol="0" anchor="t"/>
          <a:lstStyle/>
          <a:p>
            <a:pPr algn="r" indent="0" marL="0">
              <a:buNone/>
            </a:pPr>
            <a:r>
              <a:rPr lang="en-US" sz="1100" dirty="0">
                <a:solidFill>
                  <a:schemeClr val="accent2"/>
                </a:solidFill>
              </a:rPr>
              <a:t>memory</a:t>
            </a:r>
            <a:endParaRPr lang="en-US" sz="1100" dirty="0"/>
          </a:p>
        </p:txBody>
      </p:sp>
      <p:sp>
        <p:nvSpPr>
          <p:cNvPr id="47" name="Text 45"/>
          <p:cNvSpPr txBox="1"/>
          <p:nvPr/>
        </p:nvSpPr>
        <p:spPr>
          <a:xfrm>
            <a:off x="4480560" y="5669280"/>
            <a:ext cx="3200400" cy="320040"/>
          </a:xfrm>
          <a:prstGeom prst="rect">
            <a:avLst/>
          </a:prstGeom>
          <a:noFill/>
          <a:ln/>
        </p:spPr>
        <p:txBody>
          <a:bodyPr wrap="square" lIns="0" tIns="0" rIns="0" bIns="0" rtlCol="0" anchor="t"/>
          <a:lstStyle/>
          <a:p>
            <a:pPr indent="0" marL="0">
              <a:buNone/>
            </a:pPr>
            <a:r>
              <a:rPr lang="en-US" sz="1300" dirty="0">
                <a:solidFill>
                  <a:schemeClr val="tx1"/>
                </a:solidFill>
              </a:rPr>
              <a:t>program ROM / data RAM</a:t>
            </a:r>
            <a:endParaRPr lang="en-US" sz="1300" dirty="0"/>
          </a:p>
        </p:txBody>
      </p:sp>
      <p:sp>
        <p:nvSpPr>
          <p:cNvPr id="48" name="module risc8_5stage_core.v"/>
          <p:cNvSpPr/>
          <p:nvPr/>
        </p:nvSpPr>
        <p:spPr>
          <a:xfrm>
            <a:off x="8046720" y="5212080"/>
            <a:ext cx="3520440" cy="868680"/>
          </a:xfrm>
          <a:prstGeom prst="roundRect">
            <a:avLst>
              <a:gd name="adj" fmla="val 12632"/>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49" name="Text 47"/>
          <p:cNvSpPr txBox="1"/>
          <p:nvPr/>
        </p:nvSpPr>
        <p:spPr>
          <a:xfrm>
            <a:off x="8229600" y="5303520"/>
            <a:ext cx="2331720" cy="347472"/>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risc8_5stage_core.v</a:t>
            </a:r>
            <a:endParaRPr lang="en-US" sz="1400" dirty="0"/>
          </a:p>
        </p:txBody>
      </p:sp>
      <p:sp>
        <p:nvSpPr>
          <p:cNvPr id="50" name="Text 48"/>
          <p:cNvSpPr txBox="1"/>
          <p:nvPr/>
        </p:nvSpPr>
        <p:spPr>
          <a:xfrm>
            <a:off x="10561320" y="5330952"/>
            <a:ext cx="868680" cy="274320"/>
          </a:xfrm>
          <a:prstGeom prst="rect">
            <a:avLst/>
          </a:prstGeom>
          <a:noFill/>
          <a:ln/>
        </p:spPr>
        <p:txBody>
          <a:bodyPr wrap="square" lIns="0" tIns="0" rIns="0" bIns="0" rtlCol="0" anchor="t"/>
          <a:lstStyle/>
          <a:p>
            <a:pPr algn="r" indent="0" marL="0">
              <a:buNone/>
            </a:pPr>
            <a:r>
              <a:rPr lang="en-US" sz="1100" dirty="0">
                <a:solidFill>
                  <a:schemeClr val="accent2"/>
                </a:solidFill>
              </a:rPr>
              <a:t>sequential</a:t>
            </a:r>
            <a:endParaRPr lang="en-US" sz="1100" dirty="0"/>
          </a:p>
        </p:txBody>
      </p:sp>
      <p:sp>
        <p:nvSpPr>
          <p:cNvPr id="51" name="Text 49"/>
          <p:cNvSpPr txBox="1"/>
          <p:nvPr/>
        </p:nvSpPr>
        <p:spPr>
          <a:xfrm>
            <a:off x="8229600" y="5669280"/>
            <a:ext cx="3200400" cy="320040"/>
          </a:xfrm>
          <a:prstGeom prst="rect">
            <a:avLst/>
          </a:prstGeom>
          <a:noFill/>
          <a:ln/>
        </p:spPr>
        <p:txBody>
          <a:bodyPr wrap="square" lIns="0" tIns="0" rIns="0" bIns="0" rtlCol="0" anchor="t"/>
          <a:lstStyle/>
          <a:p>
            <a:pPr indent="0" marL="0">
              <a:buNone/>
            </a:pPr>
            <a:r>
              <a:rPr lang="en-US" sz="1300" dirty="0">
                <a:solidFill>
                  <a:schemeClr val="tx1"/>
                </a:solidFill>
              </a:rPr>
              <a:t>top: PC, pipeline regs, branch</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Hazards and how the design solves them</a:t>
            </a:r>
            <a:endParaRPr lang="en-US" sz="3200" dirty="0"/>
          </a:p>
        </p:txBody>
      </p:sp>
      <p:sp>
        <p:nvSpPr>
          <p:cNvPr id="3" name="hazard Data hazard (RAW)"/>
          <p:cNvSpPr/>
          <p:nvPr/>
        </p:nvSpPr>
        <p:spPr>
          <a:xfrm>
            <a:off x="548640" y="1371600"/>
            <a:ext cx="3520440" cy="3794760"/>
          </a:xfrm>
          <a:prstGeom prst="roundRect">
            <a:avLst>
              <a:gd name="adj" fmla="val 3117"/>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4" name="cost pill"/>
          <p:cNvSpPr/>
          <p:nvPr/>
        </p:nvSpPr>
        <p:spPr>
          <a:xfrm>
            <a:off x="777240" y="1600200"/>
            <a:ext cx="141732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777240" y="1600200"/>
            <a:ext cx="1417320" cy="502920"/>
          </a:xfrm>
          <a:prstGeom prst="rect">
            <a:avLst/>
          </a:prstGeom>
          <a:noFill/>
          <a:ln/>
        </p:spPr>
        <p:txBody>
          <a:bodyPr wrap="square" lIns="0" tIns="0" rIns="0" bIns="0" rtlCol="0" anchor="ctr"/>
          <a:lstStyle/>
          <a:p>
            <a:pPr algn="ctr" indent="0" marL="0">
              <a:buNone/>
            </a:pPr>
            <a:r>
              <a:rPr lang="en-US" sz="1500" b="1" dirty="0">
                <a:solidFill>
                  <a:schemeClr val="bg1"/>
                </a:solidFill>
              </a:rPr>
              <a:t>0 cycles</a:t>
            </a:r>
            <a:endParaRPr lang="en-US" sz="1500" dirty="0"/>
          </a:p>
        </p:txBody>
      </p:sp>
      <p:sp>
        <p:nvSpPr>
          <p:cNvPr id="6" name="Text 4"/>
          <p:cNvSpPr txBox="1"/>
          <p:nvPr/>
        </p:nvSpPr>
        <p:spPr>
          <a:xfrm>
            <a:off x="777240" y="2286000"/>
            <a:ext cx="310896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Data hazard (RAW)</a:t>
            </a:r>
            <a:endParaRPr lang="en-US" sz="1900" dirty="0"/>
          </a:p>
        </p:txBody>
      </p:sp>
      <p:sp>
        <p:nvSpPr>
          <p:cNvPr id="7" name="Text 5"/>
          <p:cNvSpPr txBox="1"/>
          <p:nvPr/>
        </p:nvSpPr>
        <p:spPr>
          <a:xfrm>
            <a:off x="777240" y="2788920"/>
            <a:ext cx="3108960" cy="274320"/>
          </a:xfrm>
          <a:prstGeom prst="rect">
            <a:avLst/>
          </a:prstGeom>
          <a:noFill/>
          <a:ln/>
        </p:spPr>
        <p:txBody>
          <a:bodyPr wrap="square" lIns="0" tIns="0" rIns="0" bIns="0" rtlCol="0" anchor="t"/>
          <a:lstStyle/>
          <a:p>
            <a:pPr indent="0" marL="0">
              <a:buNone/>
            </a:pPr>
            <a:r>
              <a:rPr lang="en-US" sz="1200" b="1" dirty="0">
                <a:solidFill>
                  <a:schemeClr val="accent1"/>
                </a:solidFill>
              </a:rPr>
              <a:t>Problem</a:t>
            </a:r>
            <a:endParaRPr lang="en-US" sz="1200" dirty="0"/>
          </a:p>
        </p:txBody>
      </p:sp>
      <p:sp>
        <p:nvSpPr>
          <p:cNvPr id="8" name="Text 6"/>
          <p:cNvSpPr txBox="1"/>
          <p:nvPr/>
        </p:nvSpPr>
        <p:spPr>
          <a:xfrm>
            <a:off x="777240" y="3063240"/>
            <a:ext cx="3108960" cy="777240"/>
          </a:xfrm>
          <a:prstGeom prst="rect">
            <a:avLst/>
          </a:prstGeom>
          <a:noFill/>
          <a:ln/>
        </p:spPr>
        <p:txBody>
          <a:bodyPr wrap="square" lIns="0" tIns="0" rIns="0" bIns="0" rtlCol="0" anchor="t"/>
          <a:lstStyle/>
          <a:p>
            <a:pPr indent="0" marL="0">
              <a:buNone/>
            </a:pPr>
            <a:r>
              <a:rPr lang="en-US" sz="1400" dirty="0">
                <a:solidFill>
                  <a:schemeClr val="tx1"/>
                </a:solidFill>
              </a:rPr>
              <a:t>Next instruction needs a result that is not written back yet</a:t>
            </a:r>
            <a:endParaRPr lang="en-US" sz="1400" dirty="0"/>
          </a:p>
        </p:txBody>
      </p:sp>
      <p:sp>
        <p:nvSpPr>
          <p:cNvPr id="9" name="Text 7"/>
          <p:cNvSpPr txBox="1"/>
          <p:nvPr/>
        </p:nvSpPr>
        <p:spPr>
          <a:xfrm>
            <a:off x="777240" y="3886200"/>
            <a:ext cx="3108960" cy="274320"/>
          </a:xfrm>
          <a:prstGeom prst="rect">
            <a:avLst/>
          </a:prstGeom>
          <a:noFill/>
          <a:ln/>
        </p:spPr>
        <p:txBody>
          <a:bodyPr wrap="square" lIns="0" tIns="0" rIns="0" bIns="0" rtlCol="0" anchor="t"/>
          <a:lstStyle/>
          <a:p>
            <a:pPr indent="0" marL="0">
              <a:buNone/>
            </a:pPr>
            <a:r>
              <a:rPr lang="en-US" sz="1200" b="1" dirty="0">
                <a:solidFill>
                  <a:schemeClr val="accent1"/>
                </a:solidFill>
              </a:rPr>
              <a:t>Solution</a:t>
            </a:r>
            <a:endParaRPr lang="en-US" sz="1200" dirty="0"/>
          </a:p>
        </p:txBody>
      </p:sp>
      <p:sp>
        <p:nvSpPr>
          <p:cNvPr id="10" name="Text 8"/>
          <p:cNvSpPr txBox="1"/>
          <p:nvPr/>
        </p:nvSpPr>
        <p:spPr>
          <a:xfrm>
            <a:off x="777240" y="4160520"/>
            <a:ext cx="3108960" cy="868680"/>
          </a:xfrm>
          <a:prstGeom prst="rect">
            <a:avLst/>
          </a:prstGeom>
          <a:noFill/>
          <a:ln/>
        </p:spPr>
        <p:txBody>
          <a:bodyPr wrap="square" lIns="0" tIns="0" rIns="0" bIns="0" rtlCol="0" anchor="t"/>
          <a:lstStyle/>
          <a:p>
            <a:pPr indent="0" marL="0">
              <a:buNone/>
            </a:pPr>
            <a:r>
              <a:rPr lang="en-US" sz="1400" dirty="0">
                <a:solidFill>
                  <a:schemeClr val="tx1"/>
                </a:solidFill>
              </a:rPr>
              <a:t>Forwarding from EX/MEM and MEM/WB + register-file bypass</a:t>
            </a:r>
            <a:endParaRPr lang="en-US" sz="1400" dirty="0"/>
          </a:p>
        </p:txBody>
      </p:sp>
      <p:sp>
        <p:nvSpPr>
          <p:cNvPr id="11" name="hazard Load-use hazard"/>
          <p:cNvSpPr/>
          <p:nvPr/>
        </p:nvSpPr>
        <p:spPr>
          <a:xfrm>
            <a:off x="4297680" y="1371600"/>
            <a:ext cx="3520440" cy="3794760"/>
          </a:xfrm>
          <a:prstGeom prst="roundRect">
            <a:avLst>
              <a:gd name="adj" fmla="val 3117"/>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12" name="cost pill"/>
          <p:cNvSpPr/>
          <p:nvPr/>
        </p:nvSpPr>
        <p:spPr>
          <a:xfrm>
            <a:off x="4526280" y="1600200"/>
            <a:ext cx="1417320" cy="502920"/>
          </a:xfrm>
          <a:prstGeom prst="roundRect">
            <a:avLst>
              <a:gd name="adj" fmla="val 49091"/>
            </a:avLst>
          </a:prstGeom>
          <a:solidFill>
            <a:schemeClr val="accent2"/>
          </a:solidFill>
          <a:ln w="12700">
            <a:solidFill>
              <a:schemeClr val="accent2"/>
            </a:solidFill>
            <a:prstDash val="solid"/>
          </a:ln>
        </p:spPr>
      </p:sp>
      <p:sp>
        <p:nvSpPr>
          <p:cNvPr id="13" name="Text 11"/>
          <p:cNvSpPr txBox="1"/>
          <p:nvPr/>
        </p:nvSpPr>
        <p:spPr>
          <a:xfrm>
            <a:off x="4526280" y="1600200"/>
            <a:ext cx="1417320" cy="502920"/>
          </a:xfrm>
          <a:prstGeom prst="rect">
            <a:avLst/>
          </a:prstGeom>
          <a:noFill/>
          <a:ln/>
        </p:spPr>
        <p:txBody>
          <a:bodyPr wrap="square" lIns="0" tIns="0" rIns="0" bIns="0" rtlCol="0" anchor="ctr"/>
          <a:lstStyle/>
          <a:p>
            <a:pPr algn="ctr" indent="0" marL="0">
              <a:buNone/>
            </a:pPr>
            <a:r>
              <a:rPr lang="en-US" sz="1500" b="1" dirty="0">
                <a:solidFill>
                  <a:schemeClr val="bg1"/>
                </a:solidFill>
              </a:rPr>
              <a:t>1 cycle</a:t>
            </a:r>
            <a:endParaRPr lang="en-US" sz="1500" dirty="0"/>
          </a:p>
        </p:txBody>
      </p:sp>
      <p:sp>
        <p:nvSpPr>
          <p:cNvPr id="14" name="Text 12"/>
          <p:cNvSpPr txBox="1"/>
          <p:nvPr/>
        </p:nvSpPr>
        <p:spPr>
          <a:xfrm>
            <a:off x="4526280" y="2286000"/>
            <a:ext cx="310896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Load-use hazard</a:t>
            </a:r>
            <a:endParaRPr lang="en-US" sz="1900" dirty="0"/>
          </a:p>
        </p:txBody>
      </p:sp>
      <p:sp>
        <p:nvSpPr>
          <p:cNvPr id="15" name="Text 13"/>
          <p:cNvSpPr txBox="1"/>
          <p:nvPr/>
        </p:nvSpPr>
        <p:spPr>
          <a:xfrm>
            <a:off x="4526280" y="2788920"/>
            <a:ext cx="3108960" cy="274320"/>
          </a:xfrm>
          <a:prstGeom prst="rect">
            <a:avLst/>
          </a:prstGeom>
          <a:noFill/>
          <a:ln/>
        </p:spPr>
        <p:txBody>
          <a:bodyPr wrap="square" lIns="0" tIns="0" rIns="0" bIns="0" rtlCol="0" anchor="t"/>
          <a:lstStyle/>
          <a:p>
            <a:pPr indent="0" marL="0">
              <a:buNone/>
            </a:pPr>
            <a:r>
              <a:rPr lang="en-US" sz="1200" b="1" dirty="0">
                <a:solidFill>
                  <a:schemeClr val="accent2"/>
                </a:solidFill>
              </a:rPr>
              <a:t>Problem</a:t>
            </a:r>
            <a:endParaRPr lang="en-US" sz="1200" dirty="0"/>
          </a:p>
        </p:txBody>
      </p:sp>
      <p:sp>
        <p:nvSpPr>
          <p:cNvPr id="16" name="Text 14"/>
          <p:cNvSpPr txBox="1"/>
          <p:nvPr/>
        </p:nvSpPr>
        <p:spPr>
          <a:xfrm>
            <a:off x="4526280" y="3063240"/>
            <a:ext cx="3108960" cy="777240"/>
          </a:xfrm>
          <a:prstGeom prst="rect">
            <a:avLst/>
          </a:prstGeom>
          <a:noFill/>
          <a:ln/>
        </p:spPr>
        <p:txBody>
          <a:bodyPr wrap="square" lIns="0" tIns="0" rIns="0" bIns="0" rtlCol="0" anchor="t"/>
          <a:lstStyle/>
          <a:p>
            <a:pPr indent="0" marL="0">
              <a:buNone/>
            </a:pPr>
            <a:r>
              <a:rPr lang="en-US" sz="1400" dirty="0">
                <a:solidFill>
                  <a:schemeClr val="tx1"/>
                </a:solidFill>
              </a:rPr>
              <a:t>Loaded value is needed by the very next instruction</a:t>
            </a:r>
            <a:endParaRPr lang="en-US" sz="1400" dirty="0"/>
          </a:p>
        </p:txBody>
      </p:sp>
      <p:sp>
        <p:nvSpPr>
          <p:cNvPr id="17" name="Text 15"/>
          <p:cNvSpPr txBox="1"/>
          <p:nvPr/>
        </p:nvSpPr>
        <p:spPr>
          <a:xfrm>
            <a:off x="4526280" y="3886200"/>
            <a:ext cx="3108960" cy="274320"/>
          </a:xfrm>
          <a:prstGeom prst="rect">
            <a:avLst/>
          </a:prstGeom>
          <a:noFill/>
          <a:ln/>
        </p:spPr>
        <p:txBody>
          <a:bodyPr wrap="square" lIns="0" tIns="0" rIns="0" bIns="0" rtlCol="0" anchor="t"/>
          <a:lstStyle/>
          <a:p>
            <a:pPr indent="0" marL="0">
              <a:buNone/>
            </a:pPr>
            <a:r>
              <a:rPr lang="en-US" sz="1200" b="1" dirty="0">
                <a:solidFill>
                  <a:schemeClr val="accent2"/>
                </a:solidFill>
              </a:rPr>
              <a:t>Solution</a:t>
            </a:r>
            <a:endParaRPr lang="en-US" sz="1200" dirty="0"/>
          </a:p>
        </p:txBody>
      </p:sp>
      <p:sp>
        <p:nvSpPr>
          <p:cNvPr id="18" name="Text 16"/>
          <p:cNvSpPr txBox="1"/>
          <p:nvPr/>
        </p:nvSpPr>
        <p:spPr>
          <a:xfrm>
            <a:off x="4526280" y="4160520"/>
            <a:ext cx="3108960" cy="868680"/>
          </a:xfrm>
          <a:prstGeom prst="rect">
            <a:avLst/>
          </a:prstGeom>
          <a:noFill/>
          <a:ln/>
        </p:spPr>
        <p:txBody>
          <a:bodyPr wrap="square" lIns="0" tIns="0" rIns="0" bIns="0" rtlCol="0" anchor="t"/>
          <a:lstStyle/>
          <a:p>
            <a:pPr indent="0" marL="0">
              <a:buNone/>
            </a:pPr>
            <a:r>
              <a:rPr lang="en-US" sz="1400" dirty="0">
                <a:solidFill>
                  <a:schemeClr val="tx1"/>
                </a:solidFill>
              </a:rPr>
              <a:t>Stall 1 cycle (hold PC and IF/ID, insert bubble), then forward</a:t>
            </a:r>
            <a:endParaRPr lang="en-US" sz="1400" dirty="0"/>
          </a:p>
        </p:txBody>
      </p:sp>
      <p:sp>
        <p:nvSpPr>
          <p:cNvPr id="19" name="hazard Control hazard"/>
          <p:cNvSpPr/>
          <p:nvPr/>
        </p:nvSpPr>
        <p:spPr>
          <a:xfrm>
            <a:off x="8046720" y="1371600"/>
            <a:ext cx="3520440" cy="3794760"/>
          </a:xfrm>
          <a:prstGeom prst="roundRect">
            <a:avLst>
              <a:gd name="adj" fmla="val 3117"/>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20" name="cost pill"/>
          <p:cNvSpPr/>
          <p:nvPr/>
        </p:nvSpPr>
        <p:spPr>
          <a:xfrm>
            <a:off x="8275320" y="1600200"/>
            <a:ext cx="1417320" cy="502920"/>
          </a:xfrm>
          <a:prstGeom prst="roundRect">
            <a:avLst>
              <a:gd name="adj" fmla="val 49091"/>
            </a:avLst>
          </a:prstGeom>
          <a:solidFill>
            <a:schemeClr val="accent5"/>
          </a:solidFill>
          <a:ln w="12700">
            <a:solidFill>
              <a:schemeClr val="accent5"/>
            </a:solidFill>
            <a:prstDash val="solid"/>
          </a:ln>
        </p:spPr>
      </p:sp>
      <p:sp>
        <p:nvSpPr>
          <p:cNvPr id="21" name="Text 19"/>
          <p:cNvSpPr txBox="1"/>
          <p:nvPr/>
        </p:nvSpPr>
        <p:spPr>
          <a:xfrm>
            <a:off x="8275320" y="1600200"/>
            <a:ext cx="1417320" cy="502920"/>
          </a:xfrm>
          <a:prstGeom prst="rect">
            <a:avLst/>
          </a:prstGeom>
          <a:noFill/>
          <a:ln/>
        </p:spPr>
        <p:txBody>
          <a:bodyPr wrap="square" lIns="0" tIns="0" rIns="0" bIns="0" rtlCol="0" anchor="ctr"/>
          <a:lstStyle/>
          <a:p>
            <a:pPr algn="ctr" indent="0" marL="0">
              <a:buNone/>
            </a:pPr>
            <a:r>
              <a:rPr lang="en-US" sz="1500" b="1" dirty="0">
                <a:solidFill>
                  <a:schemeClr val="bg1"/>
                </a:solidFill>
              </a:rPr>
              <a:t>2 cycles</a:t>
            </a:r>
            <a:endParaRPr lang="en-US" sz="1500" dirty="0"/>
          </a:p>
        </p:txBody>
      </p:sp>
      <p:sp>
        <p:nvSpPr>
          <p:cNvPr id="22" name="Text 20"/>
          <p:cNvSpPr txBox="1"/>
          <p:nvPr/>
        </p:nvSpPr>
        <p:spPr>
          <a:xfrm>
            <a:off x="8275320" y="2286000"/>
            <a:ext cx="310896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Control hazard</a:t>
            </a:r>
            <a:endParaRPr lang="en-US" sz="1900" dirty="0"/>
          </a:p>
        </p:txBody>
      </p:sp>
      <p:sp>
        <p:nvSpPr>
          <p:cNvPr id="23" name="Text 21"/>
          <p:cNvSpPr txBox="1"/>
          <p:nvPr/>
        </p:nvSpPr>
        <p:spPr>
          <a:xfrm>
            <a:off x="8275320" y="2788920"/>
            <a:ext cx="3108960" cy="274320"/>
          </a:xfrm>
          <a:prstGeom prst="rect">
            <a:avLst/>
          </a:prstGeom>
          <a:noFill/>
          <a:ln/>
        </p:spPr>
        <p:txBody>
          <a:bodyPr wrap="square" lIns="0" tIns="0" rIns="0" bIns="0" rtlCol="0" anchor="t"/>
          <a:lstStyle/>
          <a:p>
            <a:pPr indent="0" marL="0">
              <a:buNone/>
            </a:pPr>
            <a:r>
              <a:rPr lang="en-US" sz="1200" b="1" dirty="0">
                <a:solidFill>
                  <a:schemeClr val="accent5"/>
                </a:solidFill>
              </a:rPr>
              <a:t>Problem</a:t>
            </a:r>
            <a:endParaRPr lang="en-US" sz="1200" dirty="0"/>
          </a:p>
        </p:txBody>
      </p:sp>
      <p:sp>
        <p:nvSpPr>
          <p:cNvPr id="24" name="Text 22"/>
          <p:cNvSpPr txBox="1"/>
          <p:nvPr/>
        </p:nvSpPr>
        <p:spPr>
          <a:xfrm>
            <a:off x="8275320" y="3063240"/>
            <a:ext cx="3108960" cy="777240"/>
          </a:xfrm>
          <a:prstGeom prst="rect">
            <a:avLst/>
          </a:prstGeom>
          <a:noFill/>
          <a:ln/>
        </p:spPr>
        <p:txBody>
          <a:bodyPr wrap="square" lIns="0" tIns="0" rIns="0" bIns="0" rtlCol="0" anchor="t"/>
          <a:lstStyle/>
          <a:p>
            <a:pPr indent="0" marL="0">
              <a:buNone/>
            </a:pPr>
            <a:r>
              <a:rPr lang="en-US" sz="1400" dirty="0">
                <a:solidFill>
                  <a:schemeClr val="tx1"/>
                </a:solidFill>
              </a:rPr>
              <a:t>A taken branch makes the already fetched instructions wrong</a:t>
            </a:r>
            <a:endParaRPr lang="en-US" sz="1400" dirty="0"/>
          </a:p>
        </p:txBody>
      </p:sp>
      <p:sp>
        <p:nvSpPr>
          <p:cNvPr id="25" name="Text 23"/>
          <p:cNvSpPr txBox="1"/>
          <p:nvPr/>
        </p:nvSpPr>
        <p:spPr>
          <a:xfrm>
            <a:off x="8275320" y="3886200"/>
            <a:ext cx="3108960" cy="274320"/>
          </a:xfrm>
          <a:prstGeom prst="rect">
            <a:avLst/>
          </a:prstGeom>
          <a:noFill/>
          <a:ln/>
        </p:spPr>
        <p:txBody>
          <a:bodyPr wrap="square" lIns="0" tIns="0" rIns="0" bIns="0" rtlCol="0" anchor="t"/>
          <a:lstStyle/>
          <a:p>
            <a:pPr indent="0" marL="0">
              <a:buNone/>
            </a:pPr>
            <a:r>
              <a:rPr lang="en-US" sz="1200" b="1" dirty="0">
                <a:solidFill>
                  <a:schemeClr val="accent5"/>
                </a:solidFill>
              </a:rPr>
              <a:t>Solution</a:t>
            </a:r>
            <a:endParaRPr lang="en-US" sz="1200" dirty="0"/>
          </a:p>
        </p:txBody>
      </p:sp>
      <p:sp>
        <p:nvSpPr>
          <p:cNvPr id="26" name="Text 24"/>
          <p:cNvSpPr txBox="1"/>
          <p:nvPr/>
        </p:nvSpPr>
        <p:spPr>
          <a:xfrm>
            <a:off x="8275320" y="4160520"/>
            <a:ext cx="3108960" cy="868680"/>
          </a:xfrm>
          <a:prstGeom prst="rect">
            <a:avLst/>
          </a:prstGeom>
          <a:noFill/>
          <a:ln/>
        </p:spPr>
        <p:txBody>
          <a:bodyPr wrap="square" lIns="0" tIns="0" rIns="0" bIns="0" rtlCol="0" anchor="t"/>
          <a:lstStyle/>
          <a:p>
            <a:pPr indent="0" marL="0">
              <a:buNone/>
            </a:pPr>
            <a:r>
              <a:rPr lang="en-US" sz="1400" dirty="0">
                <a:solidFill>
                  <a:schemeClr val="tx1"/>
                </a:solidFill>
              </a:rPr>
              <a:t>Branch decided in EX; flush the 2 younger instructions</a:t>
            </a:r>
            <a:endParaRPr lang="en-US" sz="1400" dirty="0"/>
          </a:p>
        </p:txBody>
      </p:sp>
      <p:sp>
        <p:nvSpPr>
          <p:cNvPr id="27" name="Text 25"/>
          <p:cNvSpPr txBox="1"/>
          <p:nvPr/>
        </p:nvSpPr>
        <p:spPr>
          <a:xfrm>
            <a:off x="548640" y="5440680"/>
            <a:ext cx="11064240" cy="731520"/>
          </a:xfrm>
          <a:prstGeom prst="rect">
            <a:avLst/>
          </a:prstGeom>
          <a:noFill/>
          <a:ln/>
        </p:spPr>
        <p:txBody>
          <a:bodyPr wrap="square" lIns="0" tIns="0" rIns="0" bIns="0" rtlCol="0" anchor="t"/>
          <a:lstStyle/>
          <a:p>
            <a:pPr indent="0" marL="0">
              <a:buNone/>
            </a:pPr>
            <a:r>
              <a:rPr lang="en-US" sz="1400" b="1" dirty="0">
                <a:solidFill>
                  <a:schemeClr val="tx2"/>
                </a:solidFill>
                <a:latin typeface="Courier New" pitchFamily="34" charset="0"/>
                <a:ea typeface="Courier New" pitchFamily="34" charset="-122"/>
                <a:cs typeface="Courier New" pitchFamily="34" charset="-120"/>
              </a:rPr>
              <a:t>hazard_unit.v </a:t>
            </a:r>
            <a:pPr indent="0" marL="0">
              <a:buNone/>
            </a:pPr>
            <a:r>
              <a:rPr lang="en-US" sz="1400" dirty="0">
                <a:solidFill>
                  <a:schemeClr val="tx1"/>
                </a:solidFill>
              </a:rPr>
              <a:t>compares the source registers in EX with the destinations in MEM and WB – newest value wins. Forwarding is gated by uses_a / uses_b, so unused fields never cause false hazards.</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Self-checking testbench</a:t>
            </a:r>
            <a:endParaRPr lang="en-US" sz="3200" dirty="0"/>
          </a:p>
        </p:txBody>
      </p:sp>
      <p:sp>
        <p:nvSpPr>
          <p:cNvPr id="3" name="tb Clock &amp; reset"/>
          <p:cNvSpPr/>
          <p:nvPr/>
        </p:nvSpPr>
        <p:spPr>
          <a:xfrm>
            <a:off x="548640" y="1417320"/>
            <a:ext cx="2514600" cy="1417320"/>
          </a:xfrm>
          <a:prstGeom prst="roundRect">
            <a:avLst>
              <a:gd name="adj" fmla="val 7742"/>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4" name="Text 2"/>
          <p:cNvSpPr txBox="1"/>
          <p:nvPr/>
        </p:nvSpPr>
        <p:spPr>
          <a:xfrm>
            <a:off x="731520" y="1572768"/>
            <a:ext cx="2194560" cy="365760"/>
          </a:xfrm>
          <a:prstGeom prst="rect">
            <a:avLst/>
          </a:prstGeom>
          <a:noFill/>
          <a:ln/>
        </p:spPr>
        <p:txBody>
          <a:bodyPr wrap="square" lIns="0" tIns="0" rIns="0" bIns="0" rtlCol="0" anchor="t"/>
          <a:lstStyle/>
          <a:p>
            <a:pPr indent="0" marL="0">
              <a:buNone/>
            </a:pPr>
            <a:r>
              <a:rPr lang="en-US" sz="1700" b="1" dirty="0">
                <a:solidFill>
                  <a:schemeClr val="tx2"/>
                </a:solidFill>
              </a:rPr>
              <a:t>Clock &amp; reset</a:t>
            </a:r>
            <a:endParaRPr lang="en-US" sz="1700" dirty="0"/>
          </a:p>
        </p:txBody>
      </p:sp>
      <p:sp>
        <p:nvSpPr>
          <p:cNvPr id="5" name="Text 3"/>
          <p:cNvSpPr txBox="1"/>
          <p:nvPr/>
        </p:nvSpPr>
        <p:spPr>
          <a:xfrm>
            <a:off x="731520" y="2011680"/>
            <a:ext cx="2194560" cy="731520"/>
          </a:xfrm>
          <a:prstGeom prst="rect">
            <a:avLst/>
          </a:prstGeom>
          <a:noFill/>
          <a:ln/>
        </p:spPr>
        <p:txBody>
          <a:bodyPr wrap="square" lIns="0" tIns="0" rIns="0" bIns="0" rtlCol="0" anchor="t"/>
          <a:lstStyle/>
          <a:p>
            <a:pPr indent="0" marL="0">
              <a:buNone/>
            </a:pPr>
            <a:r>
              <a:rPr lang="en-US" sz="1300" dirty="0">
                <a:solidFill>
                  <a:schemeClr val="tx1"/>
                </a:solidFill>
              </a:rPr>
              <a:t>100 MHz clock</a:t>
            </a:r>
            <a:endParaRPr lang="en-US" sz="1300" dirty="0"/>
          </a:p>
          <a:p>
            <a:pPr indent="0" marL="0">
              <a:buNone/>
            </a:pPr>
            <a:r>
              <a:rPr lang="en-US" sz="1300" dirty="0">
                <a:solidFill>
                  <a:schemeClr val="tx1"/>
                </a:solidFill>
              </a:rPr>
              <a:t>reset ~2 cycles</a:t>
            </a:r>
            <a:endParaRPr lang="en-US" sz="1300" dirty="0"/>
          </a:p>
        </p:txBody>
      </p:sp>
      <p:sp>
        <p:nvSpPr>
          <p:cNvPr id="6" name="flow arrow"/>
          <p:cNvSpPr/>
          <p:nvPr/>
        </p:nvSpPr>
        <p:spPr>
          <a:xfrm>
            <a:off x="3108960" y="1965960"/>
            <a:ext cx="292608" cy="320040"/>
          </a:xfrm>
          <a:prstGeom prst="rightArrow">
            <a:avLst/>
          </a:prstGeom>
          <a:solidFill>
            <a:schemeClr val="accent2"/>
          </a:solidFill>
          <a:ln w="12700">
            <a:solidFill>
              <a:schemeClr val="accent2"/>
            </a:solidFill>
            <a:prstDash val="solid"/>
          </a:ln>
        </p:spPr>
      </p:sp>
      <p:sp>
        <p:nvSpPr>
          <p:cNvPr id="7" name="tb DUT"/>
          <p:cNvSpPr/>
          <p:nvPr/>
        </p:nvSpPr>
        <p:spPr>
          <a:xfrm>
            <a:off x="3429000" y="1417320"/>
            <a:ext cx="2514600" cy="1417320"/>
          </a:xfrm>
          <a:prstGeom prst="roundRect">
            <a:avLst>
              <a:gd name="adj" fmla="val 7742"/>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8" name="Text 6"/>
          <p:cNvSpPr txBox="1"/>
          <p:nvPr/>
        </p:nvSpPr>
        <p:spPr>
          <a:xfrm>
            <a:off x="3611880" y="1572768"/>
            <a:ext cx="2194560" cy="365760"/>
          </a:xfrm>
          <a:prstGeom prst="rect">
            <a:avLst/>
          </a:prstGeom>
          <a:noFill/>
          <a:ln/>
        </p:spPr>
        <p:txBody>
          <a:bodyPr wrap="square" lIns="0" tIns="0" rIns="0" bIns="0" rtlCol="0" anchor="t"/>
          <a:lstStyle/>
          <a:p>
            <a:pPr indent="0" marL="0">
              <a:buNone/>
            </a:pPr>
            <a:r>
              <a:rPr lang="en-US" sz="1700" b="1" dirty="0">
                <a:solidFill>
                  <a:schemeClr val="tx2"/>
                </a:solidFill>
              </a:rPr>
              <a:t>DUT</a:t>
            </a:r>
            <a:endParaRPr lang="en-US" sz="1700" dirty="0"/>
          </a:p>
        </p:txBody>
      </p:sp>
      <p:sp>
        <p:nvSpPr>
          <p:cNvPr id="9" name="Text 7"/>
          <p:cNvSpPr txBox="1"/>
          <p:nvPr/>
        </p:nvSpPr>
        <p:spPr>
          <a:xfrm>
            <a:off x="3611880" y="2011680"/>
            <a:ext cx="2194560" cy="731520"/>
          </a:xfrm>
          <a:prstGeom prst="rect">
            <a:avLst/>
          </a:prstGeom>
          <a:noFill/>
          <a:ln/>
        </p:spPr>
        <p:txBody>
          <a:bodyPr wrap="square" lIns="0" tIns="0" rIns="0" bIns="0" rtlCol="0" anchor="t"/>
          <a:lstStyle/>
          <a:p>
            <a:pPr indent="0" marL="0">
              <a:buNone/>
            </a:pPr>
            <a:r>
              <a:rPr lang="en-US" sz="1300" dirty="0">
                <a:solidFill>
                  <a:schemeClr val="tx1"/>
                </a:solidFill>
              </a:rPr>
              <a:t>risc8_5stage_core</a:t>
            </a:r>
            <a:endParaRPr lang="en-US" sz="1300" dirty="0"/>
          </a:p>
          <a:p>
            <a:pPr indent="0" marL="0">
              <a:buNone/>
            </a:pPr>
            <a:r>
              <a:rPr lang="en-US" sz="1300" dirty="0">
                <a:solidFill>
                  <a:schemeClr val="tx1"/>
                </a:solidFill>
              </a:rPr>
              <a:t>+ program.hex</a:t>
            </a:r>
            <a:endParaRPr lang="en-US" sz="1300" dirty="0"/>
          </a:p>
        </p:txBody>
      </p:sp>
      <p:sp>
        <p:nvSpPr>
          <p:cNvPr id="10" name="flow arrow"/>
          <p:cNvSpPr/>
          <p:nvPr/>
        </p:nvSpPr>
        <p:spPr>
          <a:xfrm>
            <a:off x="5989320" y="1965960"/>
            <a:ext cx="292608" cy="320040"/>
          </a:xfrm>
          <a:prstGeom prst="rightArrow">
            <a:avLst/>
          </a:prstGeom>
          <a:solidFill>
            <a:schemeClr val="accent2"/>
          </a:solidFill>
          <a:ln w="12700">
            <a:solidFill>
              <a:schemeClr val="accent2"/>
            </a:solidFill>
            <a:prstDash val="solid"/>
          </a:ln>
        </p:spPr>
      </p:sp>
      <p:sp>
        <p:nvSpPr>
          <p:cNvPr id="11" name="tb Per-cycle monitor"/>
          <p:cNvSpPr/>
          <p:nvPr/>
        </p:nvSpPr>
        <p:spPr>
          <a:xfrm>
            <a:off x="6309360" y="1417320"/>
            <a:ext cx="2514600" cy="1417320"/>
          </a:xfrm>
          <a:prstGeom prst="roundRect">
            <a:avLst>
              <a:gd name="adj" fmla="val 7742"/>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12" name="Text 10"/>
          <p:cNvSpPr txBox="1"/>
          <p:nvPr/>
        </p:nvSpPr>
        <p:spPr>
          <a:xfrm>
            <a:off x="6492240" y="1572768"/>
            <a:ext cx="2194560" cy="365760"/>
          </a:xfrm>
          <a:prstGeom prst="rect">
            <a:avLst/>
          </a:prstGeom>
          <a:noFill/>
          <a:ln/>
        </p:spPr>
        <p:txBody>
          <a:bodyPr wrap="square" lIns="0" tIns="0" rIns="0" bIns="0" rtlCol="0" anchor="t"/>
          <a:lstStyle/>
          <a:p>
            <a:pPr indent="0" marL="0">
              <a:buNone/>
            </a:pPr>
            <a:r>
              <a:rPr lang="en-US" sz="1700" b="1" dirty="0">
                <a:solidFill>
                  <a:schemeClr val="tx2"/>
                </a:solidFill>
              </a:rPr>
              <a:t>Per-cycle monitor</a:t>
            </a:r>
            <a:endParaRPr lang="en-US" sz="1700" dirty="0"/>
          </a:p>
        </p:txBody>
      </p:sp>
      <p:sp>
        <p:nvSpPr>
          <p:cNvPr id="13" name="Text 11"/>
          <p:cNvSpPr txBox="1"/>
          <p:nvPr/>
        </p:nvSpPr>
        <p:spPr>
          <a:xfrm>
            <a:off x="6492240" y="2011680"/>
            <a:ext cx="2194560" cy="731520"/>
          </a:xfrm>
          <a:prstGeom prst="rect">
            <a:avLst/>
          </a:prstGeom>
          <a:noFill/>
          <a:ln/>
        </p:spPr>
        <p:txBody>
          <a:bodyPr wrap="square" lIns="0" tIns="0" rIns="0" bIns="0" rtlCol="0" anchor="t"/>
          <a:lstStyle/>
          <a:p>
            <a:pPr indent="0" marL="0">
              <a:buNone/>
            </a:pPr>
            <a:r>
              <a:rPr lang="en-US" sz="1300" dirty="0">
                <a:solidFill>
                  <a:schemeClr val="tx1"/>
                </a:solidFill>
              </a:rPr>
              <a:t>PC, stages, WB,</a:t>
            </a:r>
            <a:endParaRPr lang="en-US" sz="1300" dirty="0"/>
          </a:p>
          <a:p>
            <a:pPr indent="0" marL="0">
              <a:buNone/>
            </a:pPr>
            <a:r>
              <a:rPr lang="en-US" sz="1300" dirty="0">
                <a:solidFill>
                  <a:schemeClr val="tx1"/>
                </a:solidFill>
              </a:rPr>
              <a:t>flags, counters</a:t>
            </a:r>
            <a:endParaRPr lang="en-US" sz="1300" dirty="0"/>
          </a:p>
        </p:txBody>
      </p:sp>
      <p:sp>
        <p:nvSpPr>
          <p:cNvPr id="14" name="flow arrow"/>
          <p:cNvSpPr/>
          <p:nvPr/>
        </p:nvSpPr>
        <p:spPr>
          <a:xfrm>
            <a:off x="8869680" y="1965960"/>
            <a:ext cx="292608" cy="320040"/>
          </a:xfrm>
          <a:prstGeom prst="rightArrow">
            <a:avLst/>
          </a:prstGeom>
          <a:solidFill>
            <a:schemeClr val="accent2"/>
          </a:solidFill>
          <a:ln w="12700">
            <a:solidFill>
              <a:schemeClr val="accent2"/>
            </a:solidFill>
            <a:prstDash val="solid"/>
          </a:ln>
        </p:spPr>
      </p:sp>
      <p:sp>
        <p:nvSpPr>
          <p:cNvPr id="15" name="tb Automatic checker"/>
          <p:cNvSpPr/>
          <p:nvPr/>
        </p:nvSpPr>
        <p:spPr>
          <a:xfrm>
            <a:off x="9189720" y="1417320"/>
            <a:ext cx="2514600" cy="1417320"/>
          </a:xfrm>
          <a:prstGeom prst="roundRect">
            <a:avLst>
              <a:gd name="adj" fmla="val 7742"/>
            </a:avLst>
          </a:prstGeom>
          <a:solidFill>
            <a:schemeClr val="accent1"/>
          </a:solidFill>
          <a:ln w="6350">
            <a:solidFill>
              <a:schemeClr val="accent1"/>
            </a:solidFill>
            <a:prstDash val="solid"/>
          </a:ln>
          <a:effectLst>
            <a:outerShdw sx="100000" sy="100000" kx="0" ky="0" algn="bl" rotWithShape="0" blurRad="76200" dist="25400" dir="5400000">
              <a:srgbClr val="0F2A2E">
                <a:alpha val="18000"/>
              </a:srgbClr>
            </a:outerShdw>
          </a:effectLst>
        </p:spPr>
      </p:sp>
      <p:sp>
        <p:nvSpPr>
          <p:cNvPr id="16" name="Text 14"/>
          <p:cNvSpPr txBox="1"/>
          <p:nvPr/>
        </p:nvSpPr>
        <p:spPr>
          <a:xfrm>
            <a:off x="9372600" y="1572768"/>
            <a:ext cx="2194560" cy="365760"/>
          </a:xfrm>
          <a:prstGeom prst="rect">
            <a:avLst/>
          </a:prstGeom>
          <a:noFill/>
          <a:ln/>
        </p:spPr>
        <p:txBody>
          <a:bodyPr wrap="square" lIns="0" tIns="0" rIns="0" bIns="0" rtlCol="0" anchor="t"/>
          <a:lstStyle/>
          <a:p>
            <a:pPr indent="0" marL="0">
              <a:buNone/>
            </a:pPr>
            <a:r>
              <a:rPr lang="en-US" sz="1700" b="1" dirty="0">
                <a:solidFill>
                  <a:schemeClr val="bg1"/>
                </a:solidFill>
              </a:rPr>
              <a:t>Automatic checker</a:t>
            </a:r>
            <a:endParaRPr lang="en-US" sz="1700" dirty="0"/>
          </a:p>
        </p:txBody>
      </p:sp>
      <p:sp>
        <p:nvSpPr>
          <p:cNvPr id="17" name="Text 15"/>
          <p:cNvSpPr txBox="1"/>
          <p:nvPr/>
        </p:nvSpPr>
        <p:spPr>
          <a:xfrm>
            <a:off x="9372600" y="2011680"/>
            <a:ext cx="2194560" cy="731520"/>
          </a:xfrm>
          <a:prstGeom prst="rect">
            <a:avLst/>
          </a:prstGeom>
          <a:noFill/>
          <a:ln/>
        </p:spPr>
        <p:txBody>
          <a:bodyPr wrap="square" lIns="0" tIns="0" rIns="0" bIns="0" rtlCol="0" anchor="t"/>
          <a:lstStyle/>
          <a:p>
            <a:pPr indent="0" marL="0">
              <a:buNone/>
            </a:pPr>
            <a:r>
              <a:rPr lang="en-US" sz="1300" dirty="0">
                <a:solidFill>
                  <a:schemeClr val="bg1"/>
                </a:solidFill>
              </a:rPr>
              <a:t>R1–R7, MEM[0x20],</a:t>
            </a:r>
            <a:endParaRPr lang="en-US" sz="1300" dirty="0"/>
          </a:p>
          <a:p>
            <a:pPr indent="0" marL="0">
              <a:buNone/>
            </a:pPr>
            <a:r>
              <a:rPr lang="en-US" sz="1300" dirty="0">
                <a:solidFill>
                  <a:schemeClr val="bg1"/>
                </a:solidFill>
              </a:rPr>
              <a:t>flags → PASS / FAIL</a:t>
            </a:r>
            <a:endParaRPr lang="en-US" sz="1300" dirty="0"/>
          </a:p>
        </p:txBody>
      </p:sp>
      <p:sp>
        <p:nvSpPr>
          <p:cNvPr id="18" name="Text 16"/>
          <p:cNvSpPr txBox="1"/>
          <p:nvPr/>
        </p:nvSpPr>
        <p:spPr>
          <a:xfrm>
            <a:off x="548640" y="3154680"/>
            <a:ext cx="10972800" cy="365760"/>
          </a:xfrm>
          <a:prstGeom prst="rect">
            <a:avLst/>
          </a:prstGeom>
          <a:noFill/>
          <a:ln/>
        </p:spPr>
        <p:txBody>
          <a:bodyPr wrap="square" lIns="0" tIns="0" rIns="0" bIns="0" rtlCol="0" anchor="t"/>
          <a:lstStyle/>
          <a:p>
            <a:pPr indent="0" marL="0">
              <a:buNone/>
            </a:pPr>
            <a:r>
              <a:rPr lang="en-US" sz="1900" b="1" dirty="0">
                <a:solidFill>
                  <a:schemeClr val="tx2"/>
                </a:solidFill>
              </a:rPr>
              <a:t>Directed test program (25 instructions, 34 executed)</a:t>
            </a:r>
            <a:endParaRPr lang="en-US" sz="1900" dirty="0"/>
          </a:p>
        </p:txBody>
      </p:sp>
      <p:sp>
        <p:nvSpPr>
          <p:cNvPr id="19" name="part label"/>
          <p:cNvSpPr/>
          <p:nvPr/>
        </p:nvSpPr>
        <p:spPr>
          <a:xfrm>
            <a:off x="548640" y="3657600"/>
            <a:ext cx="1097280" cy="566928"/>
          </a:xfrm>
          <a:prstGeom prst="roundRect">
            <a:avLst>
              <a:gd name="adj" fmla="val 16129"/>
            </a:avLst>
          </a:prstGeom>
          <a:solidFill>
            <a:schemeClr val="accent3"/>
          </a:solidFill>
          <a:ln w="12700">
            <a:solidFill>
              <a:schemeClr val="accent3"/>
            </a:solidFill>
            <a:prstDash val="solid"/>
          </a:ln>
        </p:spPr>
      </p:sp>
      <p:sp>
        <p:nvSpPr>
          <p:cNvPr id="20" name="Text 18"/>
          <p:cNvSpPr txBox="1"/>
          <p:nvPr/>
        </p:nvSpPr>
        <p:spPr>
          <a:xfrm>
            <a:off x="548640" y="3657600"/>
            <a:ext cx="1097280" cy="566928"/>
          </a:xfrm>
          <a:prstGeom prst="rect">
            <a:avLst/>
          </a:prstGeom>
          <a:noFill/>
          <a:ln/>
        </p:spPr>
        <p:txBody>
          <a:bodyPr wrap="square" lIns="0" tIns="0" rIns="0" bIns="0" rtlCol="0" anchor="ctr"/>
          <a:lstStyle/>
          <a:p>
            <a:pPr algn="ctr" indent="0" marL="0">
              <a:buNone/>
            </a:pPr>
            <a:r>
              <a:rPr lang="en-US" sz="1500" b="1" dirty="0">
                <a:solidFill>
                  <a:schemeClr val="bg1"/>
                </a:solidFill>
              </a:rPr>
              <a:t>Part 1</a:t>
            </a:r>
            <a:endParaRPr lang="en-US" sz="1500" dirty="0"/>
          </a:p>
        </p:txBody>
      </p:sp>
      <p:sp>
        <p:nvSpPr>
          <p:cNvPr id="21" name="Text 19"/>
          <p:cNvSpPr txBox="1"/>
          <p:nvPr/>
        </p:nvSpPr>
        <p:spPr>
          <a:xfrm>
            <a:off x="1828800" y="3703320"/>
            <a:ext cx="9784080" cy="502920"/>
          </a:xfrm>
          <a:prstGeom prst="rect">
            <a:avLst/>
          </a:prstGeom>
          <a:noFill/>
          <a:ln/>
        </p:spPr>
        <p:txBody>
          <a:bodyPr wrap="square" lIns="0" tIns="0" rIns="0" bIns="0" rtlCol="0" anchor="ctr"/>
          <a:lstStyle/>
          <a:p>
            <a:pPr indent="0" marL="0">
              <a:buNone/>
            </a:pPr>
            <a:r>
              <a:rPr lang="en-US" sz="1500" dirty="0">
                <a:solidFill>
                  <a:schemeClr val="tx1"/>
                </a:solidFill>
              </a:rPr>
              <a:t>ALU ops with back-to-back dependencies, SUB → Z = 1, taken BZ over a wrong-path LDI R7, 0xFF</a:t>
            </a:r>
            <a:endParaRPr lang="en-US" sz="1500" dirty="0"/>
          </a:p>
        </p:txBody>
      </p:sp>
      <p:sp>
        <p:nvSpPr>
          <p:cNvPr id="22" name="part label"/>
          <p:cNvSpPr/>
          <p:nvPr/>
        </p:nvSpPr>
        <p:spPr>
          <a:xfrm>
            <a:off x="548640" y="4434840"/>
            <a:ext cx="1097280" cy="566928"/>
          </a:xfrm>
          <a:prstGeom prst="roundRect">
            <a:avLst>
              <a:gd name="adj" fmla="val 16129"/>
            </a:avLst>
          </a:prstGeom>
          <a:solidFill>
            <a:schemeClr val="accent2"/>
          </a:solidFill>
          <a:ln w="12700">
            <a:solidFill>
              <a:schemeClr val="accent2"/>
            </a:solidFill>
            <a:prstDash val="solid"/>
          </a:ln>
        </p:spPr>
      </p:sp>
      <p:sp>
        <p:nvSpPr>
          <p:cNvPr id="23" name="Text 21"/>
          <p:cNvSpPr txBox="1"/>
          <p:nvPr/>
        </p:nvSpPr>
        <p:spPr>
          <a:xfrm>
            <a:off x="548640" y="4434840"/>
            <a:ext cx="1097280" cy="566928"/>
          </a:xfrm>
          <a:prstGeom prst="rect">
            <a:avLst/>
          </a:prstGeom>
          <a:noFill/>
          <a:ln/>
        </p:spPr>
        <p:txBody>
          <a:bodyPr wrap="square" lIns="0" tIns="0" rIns="0" bIns="0" rtlCol="0" anchor="ctr"/>
          <a:lstStyle/>
          <a:p>
            <a:pPr algn="ctr" indent="0" marL="0">
              <a:buNone/>
            </a:pPr>
            <a:r>
              <a:rPr lang="en-US" sz="1500" b="1" dirty="0">
                <a:solidFill>
                  <a:schemeClr val="bg1"/>
                </a:solidFill>
              </a:rPr>
              <a:t>Part 2</a:t>
            </a:r>
            <a:endParaRPr lang="en-US" sz="1500" dirty="0"/>
          </a:p>
        </p:txBody>
      </p:sp>
      <p:sp>
        <p:nvSpPr>
          <p:cNvPr id="24" name="Text 22"/>
          <p:cNvSpPr txBox="1"/>
          <p:nvPr/>
        </p:nvSpPr>
        <p:spPr>
          <a:xfrm>
            <a:off x="1828800" y="4480560"/>
            <a:ext cx="9784080" cy="502920"/>
          </a:xfrm>
          <a:prstGeom prst="rect">
            <a:avLst/>
          </a:prstGeom>
          <a:noFill/>
          <a:ln/>
        </p:spPr>
        <p:txBody>
          <a:bodyPr wrap="square" lIns="0" tIns="0" rIns="0" bIns="0" rtlCol="0" anchor="ctr"/>
          <a:lstStyle/>
          <a:p>
            <a:pPr indent="0" marL="0">
              <a:buNone/>
            </a:pPr>
            <a:r>
              <a:rPr lang="en-US" sz="1500" dirty="0">
                <a:solidFill>
                  <a:schemeClr val="tx1"/>
                </a:solidFill>
              </a:rPr>
              <a:t>Loop: sum = 5 + 4 + 3 + 2 + 1 = 15, BNZ taken four times</a:t>
            </a:r>
            <a:endParaRPr lang="en-US" sz="1500" dirty="0"/>
          </a:p>
        </p:txBody>
      </p:sp>
      <p:sp>
        <p:nvSpPr>
          <p:cNvPr id="25" name="part label"/>
          <p:cNvSpPr/>
          <p:nvPr/>
        </p:nvSpPr>
        <p:spPr>
          <a:xfrm>
            <a:off x="548640" y="5212080"/>
            <a:ext cx="1097280" cy="566928"/>
          </a:xfrm>
          <a:prstGeom prst="roundRect">
            <a:avLst>
              <a:gd name="adj" fmla="val 16129"/>
            </a:avLst>
          </a:prstGeom>
          <a:solidFill>
            <a:schemeClr val="accent5"/>
          </a:solidFill>
          <a:ln w="12700">
            <a:solidFill>
              <a:schemeClr val="accent5"/>
            </a:solidFill>
            <a:prstDash val="solid"/>
          </a:ln>
        </p:spPr>
      </p:sp>
      <p:sp>
        <p:nvSpPr>
          <p:cNvPr id="26" name="Text 24"/>
          <p:cNvSpPr txBox="1"/>
          <p:nvPr/>
        </p:nvSpPr>
        <p:spPr>
          <a:xfrm>
            <a:off x="548640" y="5212080"/>
            <a:ext cx="1097280" cy="566928"/>
          </a:xfrm>
          <a:prstGeom prst="rect">
            <a:avLst/>
          </a:prstGeom>
          <a:noFill/>
          <a:ln/>
        </p:spPr>
        <p:txBody>
          <a:bodyPr wrap="square" lIns="0" tIns="0" rIns="0" bIns="0" rtlCol="0" anchor="ctr"/>
          <a:lstStyle/>
          <a:p>
            <a:pPr algn="ctr" indent="0" marL="0">
              <a:buNone/>
            </a:pPr>
            <a:r>
              <a:rPr lang="en-US" sz="1500" b="1" dirty="0">
                <a:solidFill>
                  <a:schemeClr val="bg1"/>
                </a:solidFill>
              </a:rPr>
              <a:t>Part 3</a:t>
            </a:r>
            <a:endParaRPr lang="en-US" sz="1500" dirty="0"/>
          </a:p>
        </p:txBody>
      </p:sp>
      <p:sp>
        <p:nvSpPr>
          <p:cNvPr id="27" name="Text 25"/>
          <p:cNvSpPr txBox="1"/>
          <p:nvPr/>
        </p:nvSpPr>
        <p:spPr>
          <a:xfrm>
            <a:off x="1828800" y="5257800"/>
            <a:ext cx="9784080" cy="502920"/>
          </a:xfrm>
          <a:prstGeom prst="rect">
            <a:avLst/>
          </a:prstGeom>
          <a:noFill/>
          <a:ln/>
        </p:spPr>
        <p:txBody>
          <a:bodyPr wrap="square" lIns="0" tIns="0" rIns="0" bIns="0" rtlCol="0" anchor="ctr"/>
          <a:lstStyle/>
          <a:p>
            <a:pPr indent="0" marL="0">
              <a:buNone/>
            </a:pPr>
            <a:r>
              <a:rPr lang="en-US" sz="1500" dirty="0">
                <a:solidFill>
                  <a:schemeClr val="tx1"/>
                </a:solidFill>
              </a:rPr>
              <a:t>ST / LD at address 0x20, load-use pair, 0xFF + 1 overflow (C = 1), JMP and HLT</a:t>
            </a:r>
            <a:endParaRPr lang="en-US" sz="1500" dirty="0"/>
          </a:p>
        </p:txBody>
      </p:sp>
      <p:sp>
        <p:nvSpPr>
          <p:cNvPr id="28" name="Text 26"/>
          <p:cNvSpPr txBox="1"/>
          <p:nvPr/>
        </p:nvSpPr>
        <p:spPr>
          <a:xfrm>
            <a:off x="548640" y="6035040"/>
            <a:ext cx="11064240" cy="320040"/>
          </a:xfrm>
          <a:prstGeom prst="rect">
            <a:avLst/>
          </a:prstGeom>
          <a:noFill/>
          <a:ln/>
        </p:spPr>
        <p:txBody>
          <a:bodyPr wrap="square" lIns="0" tIns="0" rIns="0" bIns="0" rtlCol="0" anchor="t"/>
          <a:lstStyle/>
          <a:p>
            <a:pPr indent="0" marL="0">
              <a:buNone/>
            </a:pPr>
            <a:r>
              <a:rPr lang="en-US" sz="1300" i="1" dirty="0">
                <a:solidFill>
                  <a:schemeClr val="accent1"/>
                </a:solidFill>
              </a:rPr>
              <a:t>Expected: R1 = 00, R2 = 0F, R3 = 01, R4 = 20, R5 = 00, R6 = 66, R7 = 00, MEM[20] = 0F, Z = 1, C = 1</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Result: all tests passed, CPI = 1.50</a:t>
            </a:r>
            <a:endParaRPr lang="en-US" sz="3200" dirty="0"/>
          </a:p>
        </p:txBody>
      </p:sp>
      <p:pic>
        <p:nvPicPr>
          <p:cNvPr id="3" name="console pass screenshot" descr="Tcl console showing nine PASS lines and ALL TESTS PASSED">    </p:cNvPr>
          <p:cNvPicPr>
            <a:picLocks noChangeAspect="1"/>
          </p:cNvPicPr>
          <p:nvPr/>
        </p:nvPicPr>
        <p:blipFill>
          <a:blip r:embed="rId1"/>
          <a:stretch>
            <a:fillRect/>
          </a:stretch>
        </p:blipFill>
        <p:spPr>
          <a:xfrm>
            <a:off x="548640" y="1417320"/>
            <a:ext cx="5760720" cy="1965353"/>
          </a:xfrm>
          <a:prstGeom prst="rect">
            <a:avLst/>
          </a:prstGeom>
        </p:spPr>
      </p:pic>
      <p:sp>
        <p:nvSpPr>
          <p:cNvPr id="4" name="Text 1"/>
          <p:cNvSpPr txBox="1"/>
          <p:nvPr/>
        </p:nvSpPr>
        <p:spPr>
          <a:xfrm>
            <a:off x="548640" y="3428393"/>
            <a:ext cx="5760720" cy="274320"/>
          </a:xfrm>
          <a:prstGeom prst="rect">
            <a:avLst/>
          </a:prstGeom>
          <a:noFill/>
          <a:ln/>
        </p:spPr>
        <p:txBody>
          <a:bodyPr wrap="square" lIns="0" tIns="0" rIns="0" bIns="0" rtlCol="0" anchor="t"/>
          <a:lstStyle/>
          <a:p>
            <a:pPr indent="0" marL="0">
              <a:buNone/>
            </a:pPr>
            <a:r>
              <a:rPr lang="en-US" sz="1100" i="1" dirty="0">
                <a:solidFill>
                  <a:schemeClr val="accent1"/>
                </a:solidFill>
              </a:rPr>
              <a:t>Tcl Console output of the testbench in Vivado XSim</a:t>
            </a:r>
            <a:endParaRPr lang="en-US" sz="1100" dirty="0"/>
          </a:p>
        </p:txBody>
      </p:sp>
      <p:sp>
        <p:nvSpPr>
          <p:cNvPr id="5" name="Text 2"/>
          <p:cNvSpPr txBox="1"/>
          <p:nvPr/>
        </p:nvSpPr>
        <p:spPr>
          <a:xfrm>
            <a:off x="548640" y="4160520"/>
            <a:ext cx="137160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51</a:t>
            </a:r>
            <a:endParaRPr lang="en-US" sz="3600" dirty="0"/>
          </a:p>
        </p:txBody>
      </p:sp>
      <p:sp>
        <p:nvSpPr>
          <p:cNvPr id="6" name="Text 3"/>
          <p:cNvSpPr txBox="1"/>
          <p:nvPr/>
        </p:nvSpPr>
        <p:spPr>
          <a:xfrm>
            <a:off x="548640" y="4846320"/>
            <a:ext cx="1371600" cy="320040"/>
          </a:xfrm>
          <a:prstGeom prst="rect">
            <a:avLst/>
          </a:prstGeom>
          <a:noFill/>
          <a:ln/>
        </p:spPr>
        <p:txBody>
          <a:bodyPr wrap="square" lIns="0" tIns="0" rIns="0" bIns="0" rtlCol="0" anchor="t"/>
          <a:lstStyle/>
          <a:p>
            <a:pPr indent="0" marL="0">
              <a:buNone/>
            </a:pPr>
            <a:r>
              <a:rPr lang="en-US" sz="1300" dirty="0">
                <a:solidFill>
                  <a:schemeClr val="tx1"/>
                </a:solidFill>
              </a:rPr>
              <a:t>cycles</a:t>
            </a:r>
            <a:endParaRPr lang="en-US" sz="1300" dirty="0"/>
          </a:p>
        </p:txBody>
      </p:sp>
      <p:sp>
        <p:nvSpPr>
          <p:cNvPr id="7" name="Text 4"/>
          <p:cNvSpPr txBox="1"/>
          <p:nvPr/>
        </p:nvSpPr>
        <p:spPr>
          <a:xfrm>
            <a:off x="2011680" y="4160520"/>
            <a:ext cx="137160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34</a:t>
            </a:r>
            <a:endParaRPr lang="en-US" sz="3600" dirty="0"/>
          </a:p>
        </p:txBody>
      </p:sp>
      <p:sp>
        <p:nvSpPr>
          <p:cNvPr id="8" name="Text 5"/>
          <p:cNvSpPr txBox="1"/>
          <p:nvPr/>
        </p:nvSpPr>
        <p:spPr>
          <a:xfrm>
            <a:off x="2011680" y="4846320"/>
            <a:ext cx="1371600" cy="320040"/>
          </a:xfrm>
          <a:prstGeom prst="rect">
            <a:avLst/>
          </a:prstGeom>
          <a:noFill/>
          <a:ln/>
        </p:spPr>
        <p:txBody>
          <a:bodyPr wrap="square" lIns="0" tIns="0" rIns="0" bIns="0" rtlCol="0" anchor="t"/>
          <a:lstStyle/>
          <a:p>
            <a:pPr indent="0" marL="0">
              <a:buNone/>
            </a:pPr>
            <a:r>
              <a:rPr lang="en-US" sz="1300" dirty="0">
                <a:solidFill>
                  <a:schemeClr val="tx1"/>
                </a:solidFill>
              </a:rPr>
              <a:t>instructions</a:t>
            </a:r>
            <a:endParaRPr lang="en-US" sz="1300" dirty="0"/>
          </a:p>
        </p:txBody>
      </p:sp>
      <p:sp>
        <p:nvSpPr>
          <p:cNvPr id="9" name="Text 6"/>
          <p:cNvSpPr txBox="1"/>
          <p:nvPr/>
        </p:nvSpPr>
        <p:spPr>
          <a:xfrm>
            <a:off x="3474720" y="4160520"/>
            <a:ext cx="137160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12</a:t>
            </a:r>
            <a:endParaRPr lang="en-US" sz="3600" dirty="0"/>
          </a:p>
        </p:txBody>
      </p:sp>
      <p:sp>
        <p:nvSpPr>
          <p:cNvPr id="10" name="Text 7"/>
          <p:cNvSpPr txBox="1"/>
          <p:nvPr/>
        </p:nvSpPr>
        <p:spPr>
          <a:xfrm>
            <a:off x="3474720" y="4846320"/>
            <a:ext cx="1371600" cy="320040"/>
          </a:xfrm>
          <a:prstGeom prst="rect">
            <a:avLst/>
          </a:prstGeom>
          <a:noFill/>
          <a:ln/>
        </p:spPr>
        <p:txBody>
          <a:bodyPr wrap="square" lIns="0" tIns="0" rIns="0" bIns="0" rtlCol="0" anchor="t"/>
          <a:lstStyle/>
          <a:p>
            <a:pPr indent="0" marL="0">
              <a:buNone/>
            </a:pPr>
            <a:r>
              <a:rPr lang="en-US" sz="1300" dirty="0">
                <a:solidFill>
                  <a:schemeClr val="tx1"/>
                </a:solidFill>
              </a:rPr>
              <a:t>forwards</a:t>
            </a:r>
            <a:endParaRPr lang="en-US" sz="1300" dirty="0"/>
          </a:p>
        </p:txBody>
      </p:sp>
      <p:sp>
        <p:nvSpPr>
          <p:cNvPr id="11" name="Text 8"/>
          <p:cNvSpPr txBox="1"/>
          <p:nvPr/>
        </p:nvSpPr>
        <p:spPr>
          <a:xfrm>
            <a:off x="4937760" y="4160520"/>
            <a:ext cx="137160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1</a:t>
            </a:r>
            <a:endParaRPr lang="en-US" sz="3600" dirty="0"/>
          </a:p>
        </p:txBody>
      </p:sp>
      <p:sp>
        <p:nvSpPr>
          <p:cNvPr id="12" name="Text 9"/>
          <p:cNvSpPr txBox="1"/>
          <p:nvPr/>
        </p:nvSpPr>
        <p:spPr>
          <a:xfrm>
            <a:off x="4937760" y="4846320"/>
            <a:ext cx="1371600" cy="320040"/>
          </a:xfrm>
          <a:prstGeom prst="rect">
            <a:avLst/>
          </a:prstGeom>
          <a:noFill/>
          <a:ln/>
        </p:spPr>
        <p:txBody>
          <a:bodyPr wrap="square" lIns="0" tIns="0" rIns="0" bIns="0" rtlCol="0" anchor="t"/>
          <a:lstStyle/>
          <a:p>
            <a:pPr indent="0" marL="0">
              <a:buNone/>
            </a:pPr>
            <a:r>
              <a:rPr lang="en-US" sz="1300" dirty="0">
                <a:solidFill>
                  <a:schemeClr val="tx1"/>
                </a:solidFill>
              </a:rPr>
              <a:t>stall</a:t>
            </a:r>
            <a:endParaRPr lang="en-US" sz="1300" dirty="0"/>
          </a:p>
        </p:txBody>
      </p:sp>
      <p:sp>
        <p:nvSpPr>
          <p:cNvPr id="13" name="Text 10"/>
          <p:cNvSpPr txBox="1"/>
          <p:nvPr/>
        </p:nvSpPr>
        <p:spPr>
          <a:xfrm>
            <a:off x="548640" y="5440680"/>
            <a:ext cx="5760720" cy="640080"/>
          </a:xfrm>
          <a:prstGeom prst="rect">
            <a:avLst/>
          </a:prstGeom>
          <a:noFill/>
          <a:ln/>
        </p:spPr>
        <p:txBody>
          <a:bodyPr wrap="square" lIns="0" tIns="0" rIns="0" bIns="0" rtlCol="0" anchor="t"/>
          <a:lstStyle/>
          <a:p>
            <a:pPr indent="0" marL="0">
              <a:buNone/>
            </a:pPr>
            <a:r>
              <a:rPr lang="en-US" sz="1300" dirty="0">
                <a:solidFill>
                  <a:schemeClr val="tx1"/>
                </a:solidFill>
              </a:rPr>
              <a:t>6 taken branches × 2-cycle flush  •  wrong-path instructions never change R6 or R7</a:t>
            </a:r>
            <a:endParaRPr lang="en-US" sz="1300" dirty="0"/>
          </a:p>
        </p:txBody>
      </p:sp>
      <p:graphicFrame>
        <p:nvGraphicFramePr>
          <p:cNvPr id="14" name="cycle breakdown chart" descr=""/>
          <p:cNvGraphicFramePr/>
          <p:nvPr/>
        </p:nvGraphicFramePr>
        <p:xfrm>
          <a:off x="6675120" y="1325880"/>
          <a:ext cx="4983480" cy="4206240"/>
        </p:xfrm>
        <a:graphic xmlns:a="http://schemas.openxmlformats.org/drawingml/2006/main">
          <a:graphicData uri="http://schemas.openxmlformats.org/drawingml/2006/chart">
            <c:chart xmlns:c="http://schemas.openxmlformats.org/drawingml/2006/chart" r:id="rId2"/>
          </a:graphicData>
        </a:graphic>
      </p:graphicFrame>
      <p:sp>
        <p:nvSpPr>
          <p:cNvPr id="15" name="Text 11"/>
          <p:cNvSpPr txBox="1"/>
          <p:nvPr/>
        </p:nvSpPr>
        <p:spPr>
          <a:xfrm>
            <a:off x="6675120" y="5623560"/>
            <a:ext cx="4983480" cy="457200"/>
          </a:xfrm>
          <a:prstGeom prst="rect">
            <a:avLst/>
          </a:prstGeom>
          <a:noFill/>
          <a:ln/>
        </p:spPr>
        <p:txBody>
          <a:bodyPr wrap="square" lIns="0" tIns="0" rIns="0" bIns="0" rtlCol="0" anchor="t"/>
          <a:lstStyle/>
          <a:p>
            <a:pPr algn="ctr" indent="0" marL="0">
              <a:buNone/>
            </a:pPr>
            <a:r>
              <a:rPr lang="en-US" sz="2000" b="1" dirty="0">
                <a:solidFill>
                  <a:schemeClr val="accent2"/>
                </a:solidFill>
              </a:rPr>
              <a:t>CPI = 51 / 34 = 1.50</a:t>
            </a:r>
            <a:endParaRPr lang="en-US" sz="20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Waveform: every hazard mechanism is visible</a:t>
            </a:r>
            <a:endParaRPr lang="en-US" sz="3200" dirty="0"/>
          </a:p>
        </p:txBody>
      </p:sp>
      <p:pic>
        <p:nvPicPr>
          <p:cNvPr id="3" name="full waveform" descr="Full behavioural simulation waveform from 0 to 545 ns">    </p:cNvPr>
          <p:cNvPicPr>
            <a:picLocks noChangeAspect="1"/>
          </p:cNvPicPr>
          <p:nvPr/>
        </p:nvPicPr>
        <p:blipFill>
          <a:blip r:embed="rId1"/>
          <a:stretch>
            <a:fillRect/>
          </a:stretch>
        </p:blipFill>
        <p:spPr>
          <a:xfrm>
            <a:off x="548640" y="1325880"/>
            <a:ext cx="8412480" cy="2994606"/>
          </a:xfrm>
          <a:prstGeom prst="rect">
            <a:avLst/>
          </a:prstGeom>
        </p:spPr>
      </p:pic>
      <p:sp>
        <p:nvSpPr>
          <p:cNvPr id="4" name="highlight 1"/>
          <p:cNvSpPr/>
          <p:nvPr/>
        </p:nvSpPr>
        <p:spPr>
          <a:xfrm>
            <a:off x="2727216" y="3603357"/>
            <a:ext cx="814454" cy="291580"/>
          </a:xfrm>
          <a:prstGeom prst="rect">
            <a:avLst/>
          </a:prstGeom>
          <a:solidFill>
            <a:schemeClr val="accent1">
              <a:alpha val="0"/>
            </a:schemeClr>
          </a:solidFill>
          <a:ln w="28575">
            <a:solidFill>
              <a:schemeClr val="accent1"/>
            </a:solidFill>
            <a:prstDash val="solid"/>
          </a:ln>
        </p:spPr>
      </p:sp>
      <p:sp>
        <p:nvSpPr>
          <p:cNvPr id="5" name="marker 1"/>
          <p:cNvSpPr/>
          <p:nvPr/>
        </p:nvSpPr>
        <p:spPr>
          <a:xfrm>
            <a:off x="2544336" y="3219309"/>
            <a:ext cx="329184" cy="329184"/>
          </a:xfrm>
          <a:prstGeom prst="ellipse">
            <a:avLst/>
          </a:prstGeom>
          <a:solidFill>
            <a:schemeClr val="accent1"/>
          </a:solidFill>
          <a:ln w="19050">
            <a:solidFill>
              <a:schemeClr val="bg1"/>
            </a:solidFill>
            <a:prstDash val="solid"/>
          </a:ln>
        </p:spPr>
      </p:sp>
      <p:sp>
        <p:nvSpPr>
          <p:cNvPr id="6" name="Text 3"/>
          <p:cNvSpPr txBox="1"/>
          <p:nvPr/>
        </p:nvSpPr>
        <p:spPr>
          <a:xfrm>
            <a:off x="2544336" y="3219309"/>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highlight 2"/>
          <p:cNvSpPr/>
          <p:nvPr/>
        </p:nvSpPr>
        <p:spPr>
          <a:xfrm>
            <a:off x="3466490" y="4084070"/>
            <a:ext cx="213011" cy="118208"/>
          </a:xfrm>
          <a:prstGeom prst="rect">
            <a:avLst/>
          </a:prstGeom>
          <a:solidFill>
            <a:schemeClr val="accent5">
              <a:alpha val="0"/>
            </a:schemeClr>
          </a:solidFill>
          <a:ln w="28575">
            <a:solidFill>
              <a:schemeClr val="accent5"/>
            </a:solidFill>
            <a:prstDash val="solid"/>
          </a:ln>
        </p:spPr>
      </p:sp>
      <p:sp>
        <p:nvSpPr>
          <p:cNvPr id="8" name="marker 2"/>
          <p:cNvSpPr/>
          <p:nvPr/>
        </p:nvSpPr>
        <p:spPr>
          <a:xfrm>
            <a:off x="3082442" y="3978582"/>
            <a:ext cx="329184" cy="329184"/>
          </a:xfrm>
          <a:prstGeom prst="ellipse">
            <a:avLst/>
          </a:prstGeom>
          <a:solidFill>
            <a:schemeClr val="accent5"/>
          </a:solidFill>
          <a:ln w="19050">
            <a:solidFill>
              <a:schemeClr val="bg1"/>
            </a:solidFill>
            <a:prstDash val="solid"/>
          </a:ln>
        </p:spPr>
      </p:sp>
      <p:sp>
        <p:nvSpPr>
          <p:cNvPr id="9" name="Text 6"/>
          <p:cNvSpPr txBox="1"/>
          <p:nvPr/>
        </p:nvSpPr>
        <p:spPr>
          <a:xfrm>
            <a:off x="3082442" y="397858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highlight 3"/>
          <p:cNvSpPr/>
          <p:nvPr/>
        </p:nvSpPr>
        <p:spPr>
          <a:xfrm>
            <a:off x="4017813" y="2169098"/>
            <a:ext cx="3094926" cy="126089"/>
          </a:xfrm>
          <a:prstGeom prst="rect">
            <a:avLst/>
          </a:prstGeom>
          <a:solidFill>
            <a:schemeClr val="accent3">
              <a:alpha val="0"/>
            </a:schemeClr>
          </a:solidFill>
          <a:ln w="28575">
            <a:solidFill>
              <a:schemeClr val="accent3"/>
            </a:solidFill>
            <a:prstDash val="solid"/>
          </a:ln>
        </p:spPr>
      </p:sp>
      <p:sp>
        <p:nvSpPr>
          <p:cNvPr id="11" name="marker 3"/>
          <p:cNvSpPr/>
          <p:nvPr/>
        </p:nvSpPr>
        <p:spPr>
          <a:xfrm>
            <a:off x="3834933" y="1785050"/>
            <a:ext cx="329184" cy="329184"/>
          </a:xfrm>
          <a:prstGeom prst="ellipse">
            <a:avLst/>
          </a:prstGeom>
          <a:solidFill>
            <a:schemeClr val="accent3"/>
          </a:solidFill>
          <a:ln w="19050">
            <a:solidFill>
              <a:schemeClr val="bg1"/>
            </a:solidFill>
            <a:prstDash val="solid"/>
          </a:ln>
        </p:spPr>
      </p:sp>
      <p:sp>
        <p:nvSpPr>
          <p:cNvPr id="12" name="Text 9"/>
          <p:cNvSpPr txBox="1"/>
          <p:nvPr/>
        </p:nvSpPr>
        <p:spPr>
          <a:xfrm>
            <a:off x="3834933" y="178505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highlight 4"/>
          <p:cNvSpPr/>
          <p:nvPr/>
        </p:nvSpPr>
        <p:spPr>
          <a:xfrm>
            <a:off x="7325750" y="3934340"/>
            <a:ext cx="225541" cy="118208"/>
          </a:xfrm>
          <a:prstGeom prst="rect">
            <a:avLst/>
          </a:prstGeom>
          <a:solidFill>
            <a:schemeClr val="accent2">
              <a:alpha val="0"/>
            </a:schemeClr>
          </a:solidFill>
          <a:ln w="28575">
            <a:solidFill>
              <a:schemeClr val="accent2"/>
            </a:solidFill>
            <a:prstDash val="solid"/>
          </a:ln>
        </p:spPr>
      </p:sp>
      <p:sp>
        <p:nvSpPr>
          <p:cNvPr id="14" name="marker 4"/>
          <p:cNvSpPr/>
          <p:nvPr/>
        </p:nvSpPr>
        <p:spPr>
          <a:xfrm>
            <a:off x="6941702" y="3828852"/>
            <a:ext cx="329184" cy="329184"/>
          </a:xfrm>
          <a:prstGeom prst="ellipse">
            <a:avLst/>
          </a:prstGeom>
          <a:solidFill>
            <a:schemeClr val="accent2"/>
          </a:solidFill>
          <a:ln w="19050">
            <a:solidFill>
              <a:schemeClr val="bg1"/>
            </a:solidFill>
            <a:prstDash val="solid"/>
          </a:ln>
        </p:spPr>
      </p:sp>
      <p:sp>
        <p:nvSpPr>
          <p:cNvPr id="15" name="Text 12"/>
          <p:cNvSpPr txBox="1"/>
          <p:nvPr/>
        </p:nvSpPr>
        <p:spPr>
          <a:xfrm>
            <a:off x="6941702" y="382885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6" name="highlight 5"/>
          <p:cNvSpPr/>
          <p:nvPr/>
        </p:nvSpPr>
        <p:spPr>
          <a:xfrm>
            <a:off x="8578756" y="1987846"/>
            <a:ext cx="288191" cy="126089"/>
          </a:xfrm>
          <a:prstGeom prst="rect">
            <a:avLst/>
          </a:prstGeom>
          <a:solidFill>
            <a:schemeClr val="accent4">
              <a:alpha val="0"/>
            </a:schemeClr>
          </a:solidFill>
          <a:ln w="28575">
            <a:solidFill>
              <a:schemeClr val="accent4"/>
            </a:solidFill>
            <a:prstDash val="solid"/>
          </a:ln>
        </p:spPr>
      </p:sp>
      <p:sp>
        <p:nvSpPr>
          <p:cNvPr id="17" name="marker 5"/>
          <p:cNvSpPr/>
          <p:nvPr/>
        </p:nvSpPr>
        <p:spPr>
          <a:xfrm>
            <a:off x="8194708" y="1886298"/>
            <a:ext cx="329184" cy="329184"/>
          </a:xfrm>
          <a:prstGeom prst="ellipse">
            <a:avLst/>
          </a:prstGeom>
          <a:solidFill>
            <a:schemeClr val="accent4"/>
          </a:solidFill>
          <a:ln w="19050">
            <a:solidFill>
              <a:schemeClr val="bg1"/>
            </a:solidFill>
            <a:prstDash val="solid"/>
          </a:ln>
        </p:spPr>
      </p:sp>
      <p:sp>
        <p:nvSpPr>
          <p:cNvPr id="18" name="Text 15"/>
          <p:cNvSpPr txBox="1"/>
          <p:nvPr/>
        </p:nvSpPr>
        <p:spPr>
          <a:xfrm>
            <a:off x="8194708" y="188629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9" name="marker 1"/>
          <p:cNvSpPr/>
          <p:nvPr/>
        </p:nvSpPr>
        <p:spPr>
          <a:xfrm>
            <a:off x="9235440" y="1371600"/>
            <a:ext cx="384048" cy="384048"/>
          </a:xfrm>
          <a:prstGeom prst="ellipse">
            <a:avLst/>
          </a:prstGeom>
          <a:solidFill>
            <a:schemeClr val="accent1"/>
          </a:solidFill>
          <a:ln w="19050">
            <a:solidFill>
              <a:schemeClr val="bg1"/>
            </a:solidFill>
            <a:prstDash val="solid"/>
          </a:ln>
        </p:spPr>
      </p:sp>
      <p:sp>
        <p:nvSpPr>
          <p:cNvPr id="20" name="Text 17"/>
          <p:cNvSpPr txBox="1"/>
          <p:nvPr/>
        </p:nvSpPr>
        <p:spPr>
          <a:xfrm>
            <a:off x="9235440" y="13716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1" name="Text 18"/>
          <p:cNvSpPr txBox="1"/>
          <p:nvPr/>
        </p:nvSpPr>
        <p:spPr>
          <a:xfrm>
            <a:off x="9738360" y="1353312"/>
            <a:ext cx="1920240" cy="320040"/>
          </a:xfrm>
          <a:prstGeom prst="rect">
            <a:avLst/>
          </a:prstGeom>
          <a:noFill/>
          <a:ln/>
        </p:spPr>
        <p:txBody>
          <a:bodyPr wrap="square" lIns="0" tIns="0" rIns="0" bIns="0" rtlCol="0" anchor="t"/>
          <a:lstStyle/>
          <a:p>
            <a:pPr indent="0" marL="0">
              <a:buNone/>
            </a:pPr>
            <a:r>
              <a:rPr lang="en-US" sz="1500" b="1" dirty="0">
                <a:solidFill>
                  <a:schemeClr val="tx2"/>
                </a:solidFill>
              </a:rPr>
              <a:t>Forwarding</a:t>
            </a:r>
            <a:endParaRPr lang="en-US" sz="1500" dirty="0"/>
          </a:p>
        </p:txBody>
      </p:sp>
      <p:sp>
        <p:nvSpPr>
          <p:cNvPr id="22" name="Text 19"/>
          <p:cNvSpPr txBox="1"/>
          <p:nvPr/>
        </p:nvSpPr>
        <p:spPr>
          <a:xfrm>
            <a:off x="9738360" y="1673352"/>
            <a:ext cx="1920240" cy="502920"/>
          </a:xfrm>
          <a:prstGeom prst="rect">
            <a:avLst/>
          </a:prstGeom>
          <a:noFill/>
          <a:ln/>
        </p:spPr>
        <p:txBody>
          <a:bodyPr wrap="square" lIns="0" tIns="0" rIns="0" bIns="0" rtlCol="0" anchor="t"/>
          <a:lstStyle/>
          <a:p>
            <a:pPr indent="0" marL="0">
              <a:buNone/>
            </a:pPr>
            <a:r>
              <a:rPr lang="en-US" sz="1200" dirty="0">
                <a:solidFill>
                  <a:schemeClr val="tx1"/>
                </a:solidFill>
              </a:rPr>
              <a:t>fwd_a/b_sel = 1 or 2, no stall</a:t>
            </a:r>
            <a:endParaRPr lang="en-US" sz="1200" dirty="0"/>
          </a:p>
        </p:txBody>
      </p:sp>
      <p:sp>
        <p:nvSpPr>
          <p:cNvPr id="23" name="marker 2"/>
          <p:cNvSpPr/>
          <p:nvPr/>
        </p:nvSpPr>
        <p:spPr>
          <a:xfrm>
            <a:off x="9235440" y="2267712"/>
            <a:ext cx="384048" cy="384048"/>
          </a:xfrm>
          <a:prstGeom prst="ellipse">
            <a:avLst/>
          </a:prstGeom>
          <a:solidFill>
            <a:schemeClr val="accent5"/>
          </a:solidFill>
          <a:ln w="19050">
            <a:solidFill>
              <a:schemeClr val="bg1"/>
            </a:solidFill>
            <a:prstDash val="solid"/>
          </a:ln>
        </p:spPr>
      </p:sp>
      <p:sp>
        <p:nvSpPr>
          <p:cNvPr id="24" name="Text 21"/>
          <p:cNvSpPr txBox="1"/>
          <p:nvPr/>
        </p:nvSpPr>
        <p:spPr>
          <a:xfrm>
            <a:off x="9235440" y="22677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5" name="Text 22"/>
          <p:cNvSpPr txBox="1"/>
          <p:nvPr/>
        </p:nvSpPr>
        <p:spPr>
          <a:xfrm>
            <a:off x="9738360" y="2249424"/>
            <a:ext cx="1920240" cy="320040"/>
          </a:xfrm>
          <a:prstGeom prst="rect">
            <a:avLst/>
          </a:prstGeom>
          <a:noFill/>
          <a:ln/>
        </p:spPr>
        <p:txBody>
          <a:bodyPr wrap="square" lIns="0" tIns="0" rIns="0" bIns="0" rtlCol="0" anchor="t"/>
          <a:lstStyle/>
          <a:p>
            <a:pPr indent="0" marL="0">
              <a:buNone/>
            </a:pPr>
            <a:r>
              <a:rPr lang="en-US" sz="1500" b="1" dirty="0">
                <a:solidFill>
                  <a:schemeClr val="tx2"/>
                </a:solidFill>
              </a:rPr>
              <a:t>Branch flush</a:t>
            </a:r>
            <a:endParaRPr lang="en-US" sz="1500" dirty="0"/>
          </a:p>
        </p:txBody>
      </p:sp>
      <p:sp>
        <p:nvSpPr>
          <p:cNvPr id="26" name="Text 23"/>
          <p:cNvSpPr txBox="1"/>
          <p:nvPr/>
        </p:nvSpPr>
        <p:spPr>
          <a:xfrm>
            <a:off x="9738360" y="2569464"/>
            <a:ext cx="1920240" cy="502920"/>
          </a:xfrm>
          <a:prstGeom prst="rect">
            <a:avLst/>
          </a:prstGeom>
          <a:noFill/>
          <a:ln/>
        </p:spPr>
        <p:txBody>
          <a:bodyPr wrap="square" lIns="0" tIns="0" rIns="0" bIns="0" rtlCol="0" anchor="t"/>
          <a:lstStyle/>
          <a:p>
            <a:pPr indent="0" marL="0">
              <a:buNone/>
            </a:pPr>
            <a:r>
              <a:rPr lang="en-US" sz="1200" dirty="0">
                <a:solidFill>
                  <a:schemeClr val="tx1"/>
                </a:solidFill>
              </a:rPr>
              <a:t>6 take_branch pulses, valid bits drop</a:t>
            </a:r>
            <a:endParaRPr lang="en-US" sz="1200" dirty="0"/>
          </a:p>
        </p:txBody>
      </p:sp>
      <p:sp>
        <p:nvSpPr>
          <p:cNvPr id="27" name="marker 3"/>
          <p:cNvSpPr/>
          <p:nvPr/>
        </p:nvSpPr>
        <p:spPr>
          <a:xfrm>
            <a:off x="9235440" y="3163824"/>
            <a:ext cx="384048" cy="384048"/>
          </a:xfrm>
          <a:prstGeom prst="ellipse">
            <a:avLst/>
          </a:prstGeom>
          <a:solidFill>
            <a:schemeClr val="accent3"/>
          </a:solidFill>
          <a:ln w="19050">
            <a:solidFill>
              <a:schemeClr val="bg1"/>
            </a:solidFill>
            <a:prstDash val="solid"/>
          </a:ln>
        </p:spPr>
      </p:sp>
      <p:sp>
        <p:nvSpPr>
          <p:cNvPr id="28" name="Text 25"/>
          <p:cNvSpPr txBox="1"/>
          <p:nvPr/>
        </p:nvSpPr>
        <p:spPr>
          <a:xfrm>
            <a:off x="9235440" y="316382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9" name="Text 26"/>
          <p:cNvSpPr txBox="1"/>
          <p:nvPr/>
        </p:nvSpPr>
        <p:spPr>
          <a:xfrm>
            <a:off x="9738360" y="3145536"/>
            <a:ext cx="1920240" cy="320040"/>
          </a:xfrm>
          <a:prstGeom prst="rect">
            <a:avLst/>
          </a:prstGeom>
          <a:noFill/>
          <a:ln/>
        </p:spPr>
        <p:txBody>
          <a:bodyPr wrap="square" lIns="0" tIns="0" rIns="0" bIns="0" rtlCol="0" anchor="t"/>
          <a:lstStyle/>
          <a:p>
            <a:pPr indent="0" marL="0">
              <a:buNone/>
            </a:pPr>
            <a:r>
              <a:rPr lang="en-US" sz="1500" b="1" dirty="0">
                <a:solidFill>
                  <a:schemeClr val="tx2"/>
                </a:solidFill>
              </a:rPr>
              <a:t>Loop × 5</a:t>
            </a:r>
            <a:endParaRPr lang="en-US" sz="1500" dirty="0"/>
          </a:p>
        </p:txBody>
      </p:sp>
      <p:sp>
        <p:nvSpPr>
          <p:cNvPr id="30" name="Text 27"/>
          <p:cNvSpPr txBox="1"/>
          <p:nvPr/>
        </p:nvSpPr>
        <p:spPr>
          <a:xfrm>
            <a:off x="9738360" y="3465576"/>
            <a:ext cx="1920240" cy="502920"/>
          </a:xfrm>
          <a:prstGeom prst="rect">
            <a:avLst/>
          </a:prstGeom>
          <a:noFill/>
          <a:ln/>
        </p:spPr>
        <p:txBody>
          <a:bodyPr wrap="square" lIns="0" tIns="0" rIns="0" bIns="0" rtlCol="0" anchor="t"/>
          <a:lstStyle/>
          <a:p>
            <a:pPr indent="0" marL="0">
              <a:buNone/>
            </a:pPr>
            <a:r>
              <a:rPr lang="en-US" sz="1200" dirty="0">
                <a:solidFill>
                  <a:schemeClr val="tx1"/>
                </a:solidFill>
              </a:rPr>
              <a:t>PC repeats 0D–11</a:t>
            </a:r>
            <a:endParaRPr lang="en-US" sz="1200" dirty="0"/>
          </a:p>
        </p:txBody>
      </p:sp>
      <p:sp>
        <p:nvSpPr>
          <p:cNvPr id="31" name="marker 4"/>
          <p:cNvSpPr/>
          <p:nvPr/>
        </p:nvSpPr>
        <p:spPr>
          <a:xfrm>
            <a:off x="9235440" y="4059936"/>
            <a:ext cx="384048" cy="384048"/>
          </a:xfrm>
          <a:prstGeom prst="ellipse">
            <a:avLst/>
          </a:prstGeom>
          <a:solidFill>
            <a:schemeClr val="accent2"/>
          </a:solidFill>
          <a:ln w="19050">
            <a:solidFill>
              <a:schemeClr val="bg1"/>
            </a:solidFill>
            <a:prstDash val="solid"/>
          </a:ln>
        </p:spPr>
      </p:sp>
      <p:sp>
        <p:nvSpPr>
          <p:cNvPr id="32" name="Text 29"/>
          <p:cNvSpPr txBox="1"/>
          <p:nvPr/>
        </p:nvSpPr>
        <p:spPr>
          <a:xfrm>
            <a:off x="9235440" y="40599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3" name="Text 30"/>
          <p:cNvSpPr txBox="1"/>
          <p:nvPr/>
        </p:nvSpPr>
        <p:spPr>
          <a:xfrm>
            <a:off x="9738360" y="4041648"/>
            <a:ext cx="1920240" cy="320040"/>
          </a:xfrm>
          <a:prstGeom prst="rect">
            <a:avLst/>
          </a:prstGeom>
          <a:noFill/>
          <a:ln/>
        </p:spPr>
        <p:txBody>
          <a:bodyPr wrap="square" lIns="0" tIns="0" rIns="0" bIns="0" rtlCol="0" anchor="t"/>
          <a:lstStyle/>
          <a:p>
            <a:pPr indent="0" marL="0">
              <a:buNone/>
            </a:pPr>
            <a:r>
              <a:rPr lang="en-US" sz="1500" b="1" dirty="0">
                <a:solidFill>
                  <a:schemeClr val="tx2"/>
                </a:solidFill>
              </a:rPr>
              <a:t>Load-use stall</a:t>
            </a:r>
            <a:endParaRPr lang="en-US" sz="1500" dirty="0"/>
          </a:p>
        </p:txBody>
      </p:sp>
      <p:sp>
        <p:nvSpPr>
          <p:cNvPr id="34" name="Text 31"/>
          <p:cNvSpPr txBox="1"/>
          <p:nvPr/>
        </p:nvSpPr>
        <p:spPr>
          <a:xfrm>
            <a:off x="9738360" y="4361688"/>
            <a:ext cx="1920240" cy="502920"/>
          </a:xfrm>
          <a:prstGeom prst="rect">
            <a:avLst/>
          </a:prstGeom>
          <a:noFill/>
          <a:ln/>
        </p:spPr>
        <p:txBody>
          <a:bodyPr wrap="square" lIns="0" tIns="0" rIns="0" bIns="0" rtlCol="0" anchor="t"/>
          <a:lstStyle/>
          <a:p>
            <a:pPr indent="0" marL="0">
              <a:buNone/>
            </a:pPr>
            <a:r>
              <a:rPr lang="en-US" sz="1200" dirty="0">
                <a:solidFill>
                  <a:schemeClr val="tx1"/>
                </a:solidFill>
              </a:rPr>
              <a:t>one stall pulse near 430 ns</a:t>
            </a:r>
            <a:endParaRPr lang="en-US" sz="1200" dirty="0"/>
          </a:p>
        </p:txBody>
      </p:sp>
      <p:sp>
        <p:nvSpPr>
          <p:cNvPr id="35" name="marker 5"/>
          <p:cNvSpPr/>
          <p:nvPr/>
        </p:nvSpPr>
        <p:spPr>
          <a:xfrm>
            <a:off x="9235440" y="4956048"/>
            <a:ext cx="384048" cy="384048"/>
          </a:xfrm>
          <a:prstGeom prst="ellipse">
            <a:avLst/>
          </a:prstGeom>
          <a:solidFill>
            <a:schemeClr val="accent4"/>
          </a:solidFill>
          <a:ln w="19050">
            <a:solidFill>
              <a:schemeClr val="bg1"/>
            </a:solidFill>
            <a:prstDash val="solid"/>
          </a:ln>
        </p:spPr>
      </p:sp>
      <p:sp>
        <p:nvSpPr>
          <p:cNvPr id="36" name="Text 33"/>
          <p:cNvSpPr txBox="1"/>
          <p:nvPr/>
        </p:nvSpPr>
        <p:spPr>
          <a:xfrm>
            <a:off x="9235440" y="49560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7" name="Text 34"/>
          <p:cNvSpPr txBox="1"/>
          <p:nvPr/>
        </p:nvSpPr>
        <p:spPr>
          <a:xfrm>
            <a:off x="9738360" y="4937760"/>
            <a:ext cx="1920240" cy="320040"/>
          </a:xfrm>
          <a:prstGeom prst="rect">
            <a:avLst/>
          </a:prstGeom>
          <a:noFill/>
          <a:ln/>
        </p:spPr>
        <p:txBody>
          <a:bodyPr wrap="square" lIns="0" tIns="0" rIns="0" bIns="0" rtlCol="0" anchor="t"/>
          <a:lstStyle/>
          <a:p>
            <a:pPr indent="0" marL="0">
              <a:buNone/>
            </a:pPr>
            <a:r>
              <a:rPr lang="en-US" sz="1500" b="1" dirty="0">
                <a:solidFill>
                  <a:schemeClr val="tx2"/>
                </a:solidFill>
              </a:rPr>
              <a:t>Halt</a:t>
            </a:r>
            <a:endParaRPr lang="en-US" sz="1500" dirty="0"/>
          </a:p>
        </p:txBody>
      </p:sp>
      <p:sp>
        <p:nvSpPr>
          <p:cNvPr id="38" name="Text 35"/>
          <p:cNvSpPr txBox="1"/>
          <p:nvPr/>
        </p:nvSpPr>
        <p:spPr>
          <a:xfrm>
            <a:off x="9738360" y="5257800"/>
            <a:ext cx="1920240" cy="502920"/>
          </a:xfrm>
          <a:prstGeom prst="rect">
            <a:avLst/>
          </a:prstGeom>
          <a:noFill/>
          <a:ln/>
        </p:spPr>
        <p:txBody>
          <a:bodyPr wrap="square" lIns="0" tIns="0" rIns="0" bIns="0" rtlCol="0" anchor="t"/>
          <a:lstStyle/>
          <a:p>
            <a:pPr indent="0" marL="0">
              <a:buNone/>
            </a:pPr>
            <a:r>
              <a:rPr lang="en-US" sz="1200" dirty="0">
                <a:solidFill>
                  <a:schemeClr val="tx1"/>
                </a:solidFill>
              </a:rPr>
              <a:t>PC frozen at 19, halted = 1</a:t>
            </a:r>
            <a:endParaRPr lang="en-US" sz="1200" dirty="0"/>
          </a:p>
        </p:txBody>
      </p:sp>
      <p:sp>
        <p:nvSpPr>
          <p:cNvPr id="39" name="Text 36"/>
          <p:cNvSpPr txBox="1"/>
          <p:nvPr/>
        </p:nvSpPr>
        <p:spPr>
          <a:xfrm>
            <a:off x="548640" y="4393638"/>
            <a:ext cx="8412480" cy="274320"/>
          </a:xfrm>
          <a:prstGeom prst="rect">
            <a:avLst/>
          </a:prstGeom>
          <a:noFill/>
          <a:ln/>
        </p:spPr>
        <p:txBody>
          <a:bodyPr wrap="square" lIns="0" tIns="0" rIns="0" bIns="0" rtlCol="0" anchor="t"/>
          <a:lstStyle/>
          <a:p>
            <a:pPr indent="0" marL="0">
              <a:buNone/>
            </a:pPr>
            <a:r>
              <a:rPr lang="en-US" sz="1100" i="1" dirty="0">
                <a:solidFill>
                  <a:schemeClr val="accent1"/>
                </a:solidFill>
              </a:rPr>
              <a:t>Behavioral simulation, 0–545 ns, signals grouped by pipeline stage</a:t>
            </a:r>
            <a:endParaRPr lang="en-US" sz="1100" dirty="0"/>
          </a:p>
        </p:txBody>
      </p:sp>
      <p:sp>
        <p:nvSpPr>
          <p:cNvPr id="40" name="Text 37"/>
          <p:cNvSpPr txBox="1"/>
          <p:nvPr/>
        </p:nvSpPr>
        <p:spPr>
          <a:xfrm>
            <a:off x="548640" y="5120640"/>
            <a:ext cx="8412480" cy="365760"/>
          </a:xfrm>
          <a:prstGeom prst="rect">
            <a:avLst/>
          </a:prstGeom>
          <a:noFill/>
          <a:ln/>
        </p:spPr>
        <p:txBody>
          <a:bodyPr wrap="square" lIns="0" tIns="0" rIns="0" bIns="0" rtlCol="0" anchor="t"/>
          <a:lstStyle/>
          <a:p>
            <a:pPr indent="0" marL="0">
              <a:buNone/>
            </a:pPr>
            <a:r>
              <a:rPr lang="en-US" sz="1500" b="1" dirty="0">
                <a:solidFill>
                  <a:schemeClr val="tx2"/>
                </a:solidFill>
              </a:rPr>
              <a:t>Final register file: R0–R7 = 00 00 0F 01 20 00 66 00  →  matches the expected values</a:t>
            </a:r>
            <a:endParaRPr lang="en-US" sz="15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Zoom: load-use stall and forwarding</a:t>
            </a:r>
            <a:endParaRPr lang="en-US" sz="3200" dirty="0"/>
          </a:p>
        </p:txBody>
      </p:sp>
      <p:pic>
        <p:nvPicPr>
          <p:cNvPr id="3" name="stall waveform" descr="Waveform zoom from 405 to 485 ns showing the load-use stall">    </p:cNvPr>
          <p:cNvPicPr>
            <a:picLocks noChangeAspect="1"/>
          </p:cNvPicPr>
          <p:nvPr/>
        </p:nvPicPr>
        <p:blipFill>
          <a:blip r:embed="rId1"/>
          <a:stretch>
            <a:fillRect/>
          </a:stretch>
        </p:blipFill>
        <p:spPr>
          <a:xfrm>
            <a:off x="548640" y="1325880"/>
            <a:ext cx="7680960" cy="2698230"/>
          </a:xfrm>
          <a:prstGeom prst="rect">
            <a:avLst/>
          </a:prstGeom>
        </p:spPr>
      </p:pic>
      <p:sp>
        <p:nvSpPr>
          <p:cNvPr id="4" name="Text 1"/>
          <p:cNvSpPr txBox="1"/>
          <p:nvPr/>
        </p:nvSpPr>
        <p:spPr>
          <a:xfrm>
            <a:off x="548640" y="4069830"/>
            <a:ext cx="7680960" cy="274320"/>
          </a:xfrm>
          <a:prstGeom prst="rect">
            <a:avLst/>
          </a:prstGeom>
          <a:noFill/>
          <a:ln/>
        </p:spPr>
        <p:txBody>
          <a:bodyPr wrap="square" lIns="0" tIns="0" rIns="0" bIns="0" rtlCol="0" anchor="t"/>
          <a:lstStyle/>
          <a:p>
            <a:pPr indent="0" marL="0">
              <a:buNone/>
            </a:pPr>
            <a:r>
              <a:rPr lang="en-US" sz="1100" i="1" dirty="0">
                <a:solidFill>
                  <a:schemeClr val="accent1"/>
                </a:solidFill>
              </a:rPr>
              <a:t>405–485 ns: ST / LD / ADDI sequence</a:t>
            </a:r>
            <a:endParaRPr lang="en-US" sz="1100" dirty="0"/>
          </a:p>
        </p:txBody>
      </p:sp>
      <p:sp>
        <p:nvSpPr>
          <p:cNvPr id="5" name="step 1"/>
          <p:cNvSpPr/>
          <p:nvPr/>
        </p:nvSpPr>
        <p:spPr>
          <a:xfrm>
            <a:off x="8503920" y="1371600"/>
            <a:ext cx="3154680" cy="1005840"/>
          </a:xfrm>
          <a:prstGeom prst="roundRect">
            <a:avLst>
              <a:gd name="adj" fmla="val 10909"/>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6" name="Text 3"/>
          <p:cNvSpPr txBox="1"/>
          <p:nvPr/>
        </p:nvSpPr>
        <p:spPr>
          <a:xfrm>
            <a:off x="8686800" y="1481328"/>
            <a:ext cx="2834640" cy="32004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LD R5, [R4]</a:t>
            </a:r>
            <a:endParaRPr lang="en-US" sz="1500" dirty="0"/>
          </a:p>
        </p:txBody>
      </p:sp>
      <p:sp>
        <p:nvSpPr>
          <p:cNvPr id="7" name="Text 4"/>
          <p:cNvSpPr txBox="1"/>
          <p:nvPr/>
        </p:nvSpPr>
        <p:spPr>
          <a:xfrm>
            <a:off x="8686800" y="1810512"/>
            <a:ext cx="2834640" cy="548640"/>
          </a:xfrm>
          <a:prstGeom prst="rect">
            <a:avLst/>
          </a:prstGeom>
          <a:noFill/>
          <a:ln/>
        </p:spPr>
        <p:txBody>
          <a:bodyPr wrap="square" lIns="0" tIns="0" rIns="0" bIns="0" rtlCol="0" anchor="t"/>
          <a:lstStyle/>
          <a:p>
            <a:pPr indent="0" marL="0">
              <a:buNone/>
            </a:pPr>
            <a:r>
              <a:rPr lang="en-US" sz="1200" dirty="0">
                <a:solidFill>
                  <a:schemeClr val="tx1"/>
                </a:solidFill>
              </a:rPr>
              <a:t>reads 0x0F from address 0x20</a:t>
            </a:r>
            <a:endParaRPr lang="en-US" sz="1200" dirty="0"/>
          </a:p>
        </p:txBody>
      </p:sp>
      <p:sp>
        <p:nvSpPr>
          <p:cNvPr id="8" name="step 2"/>
          <p:cNvSpPr/>
          <p:nvPr/>
        </p:nvSpPr>
        <p:spPr>
          <a:xfrm>
            <a:off x="8503920" y="2560320"/>
            <a:ext cx="3154680" cy="1005840"/>
          </a:xfrm>
          <a:prstGeom prst="roundRect">
            <a:avLst>
              <a:gd name="adj" fmla="val 10909"/>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9" name="Text 6"/>
          <p:cNvSpPr txBox="1"/>
          <p:nvPr/>
        </p:nvSpPr>
        <p:spPr>
          <a:xfrm>
            <a:off x="8686800" y="2670048"/>
            <a:ext cx="2834640" cy="320040"/>
          </a:xfrm>
          <a:prstGeom prst="rect">
            <a:avLst/>
          </a:prstGeom>
          <a:noFill/>
          <a:ln/>
        </p:spPr>
        <p:txBody>
          <a:bodyPr wrap="square" lIns="0" tIns="0" rIns="0" bIns="0" rtlCol="0" anchor="t"/>
          <a:lstStyle/>
          <a:p>
            <a:pPr indent="0" marL="0">
              <a:buNone/>
            </a:pPr>
            <a:r>
              <a:rPr lang="en-US" sz="1500" b="1" dirty="0">
                <a:solidFill>
                  <a:schemeClr val="accent2"/>
                </a:solidFill>
                <a:latin typeface="Courier New" pitchFamily="34" charset="0"/>
                <a:ea typeface="Courier New" pitchFamily="34" charset="-122"/>
                <a:cs typeface="Courier New" pitchFamily="34" charset="-120"/>
              </a:rPr>
              <a:t>stall = 1</a:t>
            </a:r>
            <a:endParaRPr lang="en-US" sz="1500" dirty="0"/>
          </a:p>
        </p:txBody>
      </p:sp>
      <p:sp>
        <p:nvSpPr>
          <p:cNvPr id="10" name="Text 7"/>
          <p:cNvSpPr txBox="1"/>
          <p:nvPr/>
        </p:nvSpPr>
        <p:spPr>
          <a:xfrm>
            <a:off x="8686800" y="2999232"/>
            <a:ext cx="2834640" cy="548640"/>
          </a:xfrm>
          <a:prstGeom prst="rect">
            <a:avLst/>
          </a:prstGeom>
          <a:noFill/>
          <a:ln/>
        </p:spPr>
        <p:txBody>
          <a:bodyPr wrap="square" lIns="0" tIns="0" rIns="0" bIns="0" rtlCol="0" anchor="t"/>
          <a:lstStyle/>
          <a:p>
            <a:pPr indent="0" marL="0">
              <a:buNone/>
            </a:pPr>
            <a:r>
              <a:rPr lang="en-US" sz="1200" dirty="0">
                <a:solidFill>
                  <a:schemeClr val="tx1"/>
                </a:solidFill>
              </a:rPr>
              <a:t>PC holds 0x14, ADDI (9AF0) waits in ID for 2 cycles, bubble in ID/EX</a:t>
            </a:r>
            <a:endParaRPr lang="en-US" sz="1200" dirty="0"/>
          </a:p>
        </p:txBody>
      </p:sp>
      <p:sp>
        <p:nvSpPr>
          <p:cNvPr id="11" name="step 3"/>
          <p:cNvSpPr/>
          <p:nvPr/>
        </p:nvSpPr>
        <p:spPr>
          <a:xfrm>
            <a:off x="8503920" y="3749040"/>
            <a:ext cx="3154680" cy="1005840"/>
          </a:xfrm>
          <a:prstGeom prst="roundRect">
            <a:avLst>
              <a:gd name="adj" fmla="val 10909"/>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12" name="Text 9"/>
          <p:cNvSpPr txBox="1"/>
          <p:nvPr/>
        </p:nvSpPr>
        <p:spPr>
          <a:xfrm>
            <a:off x="8686800" y="3858768"/>
            <a:ext cx="2834640" cy="32004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fwd_a_sel = 1</a:t>
            </a:r>
            <a:endParaRPr lang="en-US" sz="1500" dirty="0"/>
          </a:p>
        </p:txBody>
      </p:sp>
      <p:sp>
        <p:nvSpPr>
          <p:cNvPr id="13" name="Text 10"/>
          <p:cNvSpPr txBox="1"/>
          <p:nvPr/>
        </p:nvSpPr>
        <p:spPr>
          <a:xfrm>
            <a:off x="8686800" y="4187952"/>
            <a:ext cx="2834640" cy="548640"/>
          </a:xfrm>
          <a:prstGeom prst="rect">
            <a:avLst/>
          </a:prstGeom>
          <a:noFill/>
          <a:ln/>
        </p:spPr>
        <p:txBody>
          <a:bodyPr wrap="square" lIns="0" tIns="0" rIns="0" bIns="0" rtlCol="0" anchor="t"/>
          <a:lstStyle/>
          <a:p>
            <a:pPr indent="0" marL="0">
              <a:buNone/>
            </a:pPr>
            <a:r>
              <a:rPr lang="en-US" sz="1200" dirty="0">
                <a:solidFill>
                  <a:schemeClr val="tx1"/>
                </a:solidFill>
              </a:rPr>
              <a:t>loaded value forwarded from MEM/WB → R5 = 0xFF</a:t>
            </a:r>
            <a:endParaRPr lang="en-US" sz="1200" dirty="0"/>
          </a:p>
        </p:txBody>
      </p:sp>
      <p:sp>
        <p:nvSpPr>
          <p:cNvPr id="14" name="step 4"/>
          <p:cNvSpPr/>
          <p:nvPr/>
        </p:nvSpPr>
        <p:spPr>
          <a:xfrm>
            <a:off x="8503920" y="4937760"/>
            <a:ext cx="3154680" cy="1005840"/>
          </a:xfrm>
          <a:prstGeom prst="roundRect">
            <a:avLst>
              <a:gd name="adj" fmla="val 10909"/>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15" name="Text 12"/>
          <p:cNvSpPr txBox="1"/>
          <p:nvPr/>
        </p:nvSpPr>
        <p:spPr>
          <a:xfrm>
            <a:off x="8686800" y="5047488"/>
            <a:ext cx="2834640" cy="32004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fwd_a_sel = 2</a:t>
            </a:r>
            <a:endParaRPr lang="en-US" sz="1500" dirty="0"/>
          </a:p>
        </p:txBody>
      </p:sp>
      <p:sp>
        <p:nvSpPr>
          <p:cNvPr id="16" name="Text 13"/>
          <p:cNvSpPr txBox="1"/>
          <p:nvPr/>
        </p:nvSpPr>
        <p:spPr>
          <a:xfrm>
            <a:off x="8686800" y="5376672"/>
            <a:ext cx="2834640" cy="548640"/>
          </a:xfrm>
          <a:prstGeom prst="rect">
            <a:avLst/>
          </a:prstGeom>
          <a:noFill/>
          <a:ln/>
        </p:spPr>
        <p:txBody>
          <a:bodyPr wrap="square" lIns="0" tIns="0" rIns="0" bIns="0" rtlCol="0" anchor="t"/>
          <a:lstStyle/>
          <a:p>
            <a:pPr indent="0" marL="0">
              <a:buNone/>
            </a:pPr>
            <a:r>
              <a:rPr lang="en-US" sz="1200" dirty="0">
                <a:solidFill>
                  <a:schemeClr val="tx1"/>
                </a:solidFill>
              </a:rPr>
              <a:t>ADDI R5, 1 → 0x00, flags = 3 (Z = 1, C = 1)</a:t>
            </a:r>
            <a:endParaRPr lang="en-US" sz="1200" dirty="0"/>
          </a:p>
        </p:txBody>
      </p:sp>
      <p:sp>
        <p:nvSpPr>
          <p:cNvPr id="17" name="Text 14"/>
          <p:cNvSpPr txBox="1"/>
          <p:nvPr/>
        </p:nvSpPr>
        <p:spPr>
          <a:xfrm>
            <a:off x="548640" y="5897880"/>
            <a:ext cx="7680960" cy="365760"/>
          </a:xfrm>
          <a:prstGeom prst="rect">
            <a:avLst/>
          </a:prstGeom>
          <a:noFill/>
          <a:ln/>
        </p:spPr>
        <p:txBody>
          <a:bodyPr wrap="square" lIns="0" tIns="0" rIns="0" bIns="0" rtlCol="0" anchor="t"/>
          <a:lstStyle/>
          <a:p>
            <a:pPr indent="0" marL="0">
              <a:buNone/>
            </a:pPr>
            <a:r>
              <a:rPr lang="en-US" sz="1500" b="1" dirty="0">
                <a:solidFill>
                  <a:schemeClr val="tx2"/>
                </a:solidFill>
              </a:rPr>
              <a:t>Cost of the load-use hazard: exactly one clock cycle</a:t>
            </a:r>
            <a:endParaRPr lang="en-US" sz="15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Synthesis on Artix-7 xc7a35t</a:t>
            </a:r>
            <a:endParaRPr lang="en-US" sz="3200" dirty="0"/>
          </a:p>
        </p:txBody>
      </p:sp>
      <p:sp>
        <p:nvSpPr>
          <p:cNvPr id="3" name="synth LUTs"/>
          <p:cNvSpPr/>
          <p:nvPr/>
        </p:nvSpPr>
        <p:spPr>
          <a:xfrm>
            <a:off x="548640" y="1371600"/>
            <a:ext cx="3520440" cy="1600200"/>
          </a:xfrm>
          <a:prstGeom prst="roundRect">
            <a:avLst>
              <a:gd name="adj" fmla="val 6857"/>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4" name="Text 2"/>
          <p:cNvSpPr txBox="1"/>
          <p:nvPr/>
        </p:nvSpPr>
        <p:spPr>
          <a:xfrm>
            <a:off x="777240" y="1481328"/>
            <a:ext cx="173736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238</a:t>
            </a:r>
            <a:endParaRPr lang="en-US" sz="4800" dirty="0"/>
          </a:p>
        </p:txBody>
      </p:sp>
      <p:sp>
        <p:nvSpPr>
          <p:cNvPr id="5" name="Text 3"/>
          <p:cNvSpPr txBox="1"/>
          <p:nvPr/>
        </p:nvSpPr>
        <p:spPr>
          <a:xfrm>
            <a:off x="2377440" y="1691640"/>
            <a:ext cx="1554480" cy="365760"/>
          </a:xfrm>
          <a:prstGeom prst="rect">
            <a:avLst/>
          </a:prstGeom>
          <a:noFill/>
          <a:ln/>
        </p:spPr>
        <p:txBody>
          <a:bodyPr wrap="square" lIns="0" tIns="0" rIns="0" bIns="0" rtlCol="0" anchor="t"/>
          <a:lstStyle/>
          <a:p>
            <a:pPr indent="0" marL="0">
              <a:buNone/>
            </a:pPr>
            <a:r>
              <a:rPr lang="en-US" sz="1700" b="1" dirty="0">
                <a:solidFill>
                  <a:schemeClr val="tx2"/>
                </a:solidFill>
              </a:rPr>
              <a:t>LUTs</a:t>
            </a:r>
            <a:endParaRPr lang="en-US" sz="1700" dirty="0"/>
          </a:p>
        </p:txBody>
      </p:sp>
      <p:sp>
        <p:nvSpPr>
          <p:cNvPr id="6" name="Text 4"/>
          <p:cNvSpPr txBox="1"/>
          <p:nvPr/>
        </p:nvSpPr>
        <p:spPr>
          <a:xfrm>
            <a:off x="777240" y="2423160"/>
            <a:ext cx="3108960" cy="365760"/>
          </a:xfrm>
          <a:prstGeom prst="rect">
            <a:avLst/>
          </a:prstGeom>
          <a:noFill/>
          <a:ln/>
        </p:spPr>
        <p:txBody>
          <a:bodyPr wrap="square" lIns="0" tIns="0" rIns="0" bIns="0" rtlCol="0" anchor="t"/>
          <a:lstStyle/>
          <a:p>
            <a:pPr indent="0" marL="0">
              <a:buNone/>
            </a:pPr>
            <a:r>
              <a:rPr lang="en-US" sz="1300" dirty="0">
                <a:solidFill>
                  <a:schemeClr val="tx1"/>
                </a:solidFill>
              </a:rPr>
              <a:t>1.14 % of 20,800</a:t>
            </a:r>
            <a:endParaRPr lang="en-US" sz="1300" dirty="0"/>
          </a:p>
        </p:txBody>
      </p:sp>
      <p:sp>
        <p:nvSpPr>
          <p:cNvPr id="7" name="synth flip-flops"/>
          <p:cNvSpPr/>
          <p:nvPr/>
        </p:nvSpPr>
        <p:spPr>
          <a:xfrm>
            <a:off x="4297680" y="1371600"/>
            <a:ext cx="3520440" cy="1600200"/>
          </a:xfrm>
          <a:prstGeom prst="roundRect">
            <a:avLst>
              <a:gd name="adj" fmla="val 6857"/>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8" name="Text 6"/>
          <p:cNvSpPr txBox="1"/>
          <p:nvPr/>
        </p:nvSpPr>
        <p:spPr>
          <a:xfrm>
            <a:off x="4526280" y="1481328"/>
            <a:ext cx="173736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187</a:t>
            </a:r>
            <a:endParaRPr lang="en-US" sz="4800" dirty="0"/>
          </a:p>
        </p:txBody>
      </p:sp>
      <p:sp>
        <p:nvSpPr>
          <p:cNvPr id="9" name="Text 7"/>
          <p:cNvSpPr txBox="1"/>
          <p:nvPr/>
        </p:nvSpPr>
        <p:spPr>
          <a:xfrm>
            <a:off x="6126480" y="1691640"/>
            <a:ext cx="1554480" cy="365760"/>
          </a:xfrm>
          <a:prstGeom prst="rect">
            <a:avLst/>
          </a:prstGeom>
          <a:noFill/>
          <a:ln/>
        </p:spPr>
        <p:txBody>
          <a:bodyPr wrap="square" lIns="0" tIns="0" rIns="0" bIns="0" rtlCol="0" anchor="t"/>
          <a:lstStyle/>
          <a:p>
            <a:pPr indent="0" marL="0">
              <a:buNone/>
            </a:pPr>
            <a:r>
              <a:rPr lang="en-US" sz="1700" b="1" dirty="0">
                <a:solidFill>
                  <a:schemeClr val="tx2"/>
                </a:solidFill>
              </a:rPr>
              <a:t>flip-flops</a:t>
            </a:r>
            <a:endParaRPr lang="en-US" sz="1700" dirty="0"/>
          </a:p>
        </p:txBody>
      </p:sp>
      <p:sp>
        <p:nvSpPr>
          <p:cNvPr id="10" name="Text 8"/>
          <p:cNvSpPr txBox="1"/>
          <p:nvPr/>
        </p:nvSpPr>
        <p:spPr>
          <a:xfrm>
            <a:off x="4526280" y="2423160"/>
            <a:ext cx="3108960" cy="365760"/>
          </a:xfrm>
          <a:prstGeom prst="rect">
            <a:avLst/>
          </a:prstGeom>
          <a:noFill/>
          <a:ln/>
        </p:spPr>
        <p:txBody>
          <a:bodyPr wrap="square" lIns="0" tIns="0" rIns="0" bIns="0" rtlCol="0" anchor="t"/>
          <a:lstStyle/>
          <a:p>
            <a:pPr indent="0" marL="0">
              <a:buNone/>
            </a:pPr>
            <a:r>
              <a:rPr lang="en-US" sz="1300" dirty="0">
                <a:solidFill>
                  <a:schemeClr val="tx1"/>
                </a:solidFill>
              </a:rPr>
              <a:t>0.45 % of 41,600</a:t>
            </a:r>
            <a:endParaRPr lang="en-US" sz="1300" dirty="0"/>
          </a:p>
        </p:txBody>
      </p:sp>
      <p:sp>
        <p:nvSpPr>
          <p:cNvPr id="11" name="synth I/O pins"/>
          <p:cNvSpPr/>
          <p:nvPr/>
        </p:nvSpPr>
        <p:spPr>
          <a:xfrm>
            <a:off x="8046720" y="1371600"/>
            <a:ext cx="3520440" cy="1600200"/>
          </a:xfrm>
          <a:prstGeom prst="roundRect">
            <a:avLst>
              <a:gd name="adj" fmla="val 6857"/>
            </a:avLst>
          </a:prstGeom>
          <a:solidFill>
            <a:schemeClr val="bg2"/>
          </a:solidFill>
          <a:ln w="6350">
            <a:solidFill>
              <a:schemeClr val="bg2"/>
            </a:solidFill>
            <a:prstDash val="solid"/>
          </a:ln>
          <a:effectLst>
            <a:outerShdw sx="100000" sy="100000" kx="0" ky="0" algn="bl" rotWithShape="0" blurRad="76200" dist="25400" dir="5400000">
              <a:srgbClr val="0F2A2E">
                <a:alpha val="18000"/>
              </a:srgbClr>
            </a:outerShdw>
          </a:effectLst>
        </p:spPr>
      </p:sp>
      <p:sp>
        <p:nvSpPr>
          <p:cNvPr id="12" name="Text 10"/>
          <p:cNvSpPr txBox="1"/>
          <p:nvPr/>
        </p:nvSpPr>
        <p:spPr>
          <a:xfrm>
            <a:off x="8275320" y="1481328"/>
            <a:ext cx="173736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14</a:t>
            </a:r>
            <a:endParaRPr lang="en-US" sz="4800" dirty="0"/>
          </a:p>
        </p:txBody>
      </p:sp>
      <p:sp>
        <p:nvSpPr>
          <p:cNvPr id="13" name="Text 11"/>
          <p:cNvSpPr txBox="1"/>
          <p:nvPr/>
        </p:nvSpPr>
        <p:spPr>
          <a:xfrm>
            <a:off x="9875520" y="1691640"/>
            <a:ext cx="1554480" cy="365760"/>
          </a:xfrm>
          <a:prstGeom prst="rect">
            <a:avLst/>
          </a:prstGeom>
          <a:noFill/>
          <a:ln/>
        </p:spPr>
        <p:txBody>
          <a:bodyPr wrap="square" lIns="0" tIns="0" rIns="0" bIns="0" rtlCol="0" anchor="t"/>
          <a:lstStyle/>
          <a:p>
            <a:pPr indent="0" marL="0">
              <a:buNone/>
            </a:pPr>
            <a:r>
              <a:rPr lang="en-US" sz="1700" b="1" dirty="0">
                <a:solidFill>
                  <a:schemeClr val="tx2"/>
                </a:solidFill>
              </a:rPr>
              <a:t>I/O pins</a:t>
            </a:r>
            <a:endParaRPr lang="en-US" sz="1700" dirty="0"/>
          </a:p>
        </p:txBody>
      </p:sp>
      <p:sp>
        <p:nvSpPr>
          <p:cNvPr id="14" name="Text 12"/>
          <p:cNvSpPr txBox="1"/>
          <p:nvPr/>
        </p:nvSpPr>
        <p:spPr>
          <a:xfrm>
            <a:off x="8275320" y="2423160"/>
            <a:ext cx="3108960" cy="365760"/>
          </a:xfrm>
          <a:prstGeom prst="rect">
            <a:avLst/>
          </a:prstGeom>
          <a:noFill/>
          <a:ln/>
        </p:spPr>
        <p:txBody>
          <a:bodyPr wrap="square" lIns="0" tIns="0" rIns="0" bIns="0" rtlCol="0" anchor="t"/>
          <a:lstStyle/>
          <a:p>
            <a:pPr indent="0" marL="0">
              <a:buNone/>
            </a:pPr>
            <a:r>
              <a:rPr lang="en-US" sz="1300" dirty="0">
                <a:solidFill>
                  <a:schemeClr val="tx1"/>
                </a:solidFill>
              </a:rPr>
              <a:t>clk, rst + 12 outputs</a:t>
            </a:r>
            <a:endParaRPr lang="en-US" sz="1300" dirty="0"/>
          </a:p>
        </p:txBody>
      </p:sp>
      <p:pic>
        <p:nvPicPr>
          <p:cNvPr id="15" name="utilization table" descr="Post-synthesis utilization by hierarchy">    </p:cNvPr>
          <p:cNvPicPr>
            <a:picLocks noChangeAspect="1"/>
          </p:cNvPicPr>
          <p:nvPr/>
        </p:nvPicPr>
        <p:blipFill>
          <a:blip r:embed="rId1"/>
          <a:stretch>
            <a:fillRect/>
          </a:stretch>
        </p:blipFill>
        <p:spPr>
          <a:xfrm>
            <a:off x="548640" y="3291840"/>
            <a:ext cx="5760720" cy="1656492"/>
          </a:xfrm>
          <a:prstGeom prst="rect">
            <a:avLst/>
          </a:prstGeom>
        </p:spPr>
      </p:pic>
      <p:sp>
        <p:nvSpPr>
          <p:cNvPr id="16" name="Text 13"/>
          <p:cNvSpPr txBox="1"/>
          <p:nvPr/>
        </p:nvSpPr>
        <p:spPr>
          <a:xfrm>
            <a:off x="548640" y="4994052"/>
            <a:ext cx="5760720" cy="274320"/>
          </a:xfrm>
          <a:prstGeom prst="rect">
            <a:avLst/>
          </a:prstGeom>
          <a:noFill/>
          <a:ln/>
        </p:spPr>
        <p:txBody>
          <a:bodyPr wrap="square" lIns="0" tIns="0" rIns="0" bIns="0" rtlCol="0" anchor="t"/>
          <a:lstStyle/>
          <a:p>
            <a:pPr indent="0" marL="0">
              <a:buNone/>
            </a:pPr>
            <a:r>
              <a:rPr lang="en-US" sz="1100" i="1" dirty="0">
                <a:solidFill>
                  <a:schemeClr val="accent1"/>
                </a:solidFill>
              </a:rPr>
              <a:t>Post-synthesis utilization by hierarchy (Vivado)</a:t>
            </a:r>
            <a:endParaRPr lang="en-US" sz="1100" dirty="0"/>
          </a:p>
        </p:txBody>
      </p:sp>
      <p:sp>
        <p:nvSpPr>
          <p:cNvPr id="17" name="Text 14"/>
          <p:cNvSpPr txBox="1"/>
          <p:nvPr/>
        </p:nvSpPr>
        <p:spPr>
          <a:xfrm>
            <a:off x="6675120" y="3291840"/>
            <a:ext cx="498348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ALU: 0 flip-flops → purely combinational</a:t>
            </a:r>
            <a:endParaRPr lang="en-US" sz="1500" dirty="0"/>
          </a:p>
          <a:p>
            <a:pPr marL="342900" indent="-342900">
              <a:spcAft>
                <a:spcPts val="800"/>
              </a:spcAft>
              <a:buSzPct val="100000"/>
              <a:buChar char="•"/>
            </a:pPr>
            <a:r>
              <a:rPr lang="en-US" sz="1500" dirty="0">
                <a:solidFill>
                  <a:schemeClr val="tx1"/>
                </a:solidFill>
              </a:rPr>
              <a:t>Register file: 64 FF = 8 registers × 8 bits</a:t>
            </a:r>
            <a:endParaRPr lang="en-US" sz="1500" dirty="0"/>
          </a:p>
          <a:p>
            <a:pPr marL="342900" indent="-342900">
              <a:spcAft>
                <a:spcPts val="800"/>
              </a:spcAft>
              <a:buSzPct val="100000"/>
              <a:buChar char="•"/>
            </a:pPr>
            <a:r>
              <a:rPr lang="en-US" sz="1500" dirty="0">
                <a:solidFill>
                  <a:schemeClr val="tx1"/>
                </a:solidFill>
              </a:rPr>
              <a:t>Top level: 123 FF = pipeline registers (111) + PC + flags + control</a:t>
            </a:r>
            <a:endParaRPr lang="en-US" sz="1500" dirty="0"/>
          </a:p>
          <a:p>
            <a:pPr marL="342900" indent="-342900">
              <a:spcAft>
                <a:spcPts val="800"/>
              </a:spcAft>
              <a:buSzPct val="100000"/>
              <a:buChar char="•"/>
            </a:pPr>
            <a:r>
              <a:rPr lang="en-US" sz="1500" dirty="0">
                <a:solidFill>
                  <a:schemeClr val="tx1"/>
                </a:solidFill>
              </a:rPr>
              <a:t>Data memory mapped to distributed LUT-RAM, not 2,048 FFs</a:t>
            </a:r>
            <a:endParaRPr lang="en-US" sz="15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548640"/>
            <a:ext cx="10058400" cy="73152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Conclusion</a:t>
            </a:r>
            <a:endParaRPr lang="en-US" sz="4000" dirty="0"/>
          </a:p>
        </p:txBody>
      </p:sp>
      <p:sp>
        <p:nvSpPr>
          <p:cNvPr id="3" name="bullet dot"/>
          <p:cNvSpPr/>
          <p:nvPr/>
        </p:nvSpPr>
        <p:spPr>
          <a:xfrm>
            <a:off x="731520" y="1600200"/>
            <a:ext cx="457200" cy="457200"/>
          </a:xfrm>
          <a:prstGeom prst="ellipse">
            <a:avLst/>
          </a:prstGeom>
          <a:solidFill>
            <a:schemeClr val="accent3"/>
          </a:solidFill>
          <a:ln w="12700">
            <a:solidFill>
              <a:schemeClr val="accent3"/>
            </a:solidFill>
            <a:prstDash val="solid"/>
          </a:ln>
        </p:spPr>
      </p:sp>
      <p:sp>
        <p:nvSpPr>
          <p:cNvPr id="4" name="Text 2"/>
          <p:cNvSpPr txBox="1"/>
          <p:nvPr/>
        </p:nvSpPr>
        <p:spPr>
          <a:xfrm>
            <a:off x="73152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417320" y="1554480"/>
            <a:ext cx="9601200" cy="347472"/>
          </a:xfrm>
          <a:prstGeom prst="rect">
            <a:avLst/>
          </a:prstGeom>
          <a:noFill/>
          <a:ln/>
        </p:spPr>
        <p:txBody>
          <a:bodyPr wrap="square" lIns="0" tIns="0" rIns="0" bIns="0" rtlCol="0" anchor="t"/>
          <a:lstStyle/>
          <a:p>
            <a:pPr indent="0" marL="0">
              <a:buNone/>
            </a:pPr>
            <a:r>
              <a:rPr lang="en-US" sz="1900" b="1" dirty="0">
                <a:solidFill>
                  <a:schemeClr val="bg1"/>
                </a:solidFill>
              </a:rPr>
              <a:t>Working 5-stage pipeline</a:t>
            </a:r>
            <a:endParaRPr lang="en-US" sz="1900" dirty="0"/>
          </a:p>
        </p:txBody>
      </p:sp>
      <p:sp>
        <p:nvSpPr>
          <p:cNvPr id="6" name="Text 4"/>
          <p:cNvSpPr txBox="1"/>
          <p:nvPr/>
        </p:nvSpPr>
        <p:spPr>
          <a:xfrm>
            <a:off x="1417320" y="1901952"/>
            <a:ext cx="9601200" cy="365760"/>
          </a:xfrm>
          <a:prstGeom prst="rect">
            <a:avLst/>
          </a:prstGeom>
          <a:noFill/>
          <a:ln/>
        </p:spPr>
        <p:txBody>
          <a:bodyPr wrap="square" lIns="0" tIns="0" rIns="0" bIns="0" rtlCol="0" anchor="t"/>
          <a:lstStyle/>
          <a:p>
            <a:pPr indent="0" marL="0">
              <a:buNone/>
            </a:pPr>
            <a:r>
              <a:rPr lang="en-US" sz="1400" dirty="0">
                <a:solidFill>
                  <a:schemeClr val="bg2"/>
                </a:solidFill>
              </a:rPr>
              <a:t>16-instruction 8-bit RISC core in synthesizable Verilog</a:t>
            </a:r>
            <a:endParaRPr lang="en-US" sz="1400" dirty="0"/>
          </a:p>
        </p:txBody>
      </p:sp>
      <p:sp>
        <p:nvSpPr>
          <p:cNvPr id="7" name="bullet dot"/>
          <p:cNvSpPr/>
          <p:nvPr/>
        </p:nvSpPr>
        <p:spPr>
          <a:xfrm>
            <a:off x="731520" y="2468880"/>
            <a:ext cx="457200" cy="457200"/>
          </a:xfrm>
          <a:prstGeom prst="ellipse">
            <a:avLst/>
          </a:prstGeom>
          <a:solidFill>
            <a:schemeClr val="accent6"/>
          </a:solidFill>
          <a:ln w="12700">
            <a:solidFill>
              <a:schemeClr val="accent6"/>
            </a:solidFill>
            <a:prstDash val="solid"/>
          </a:ln>
        </p:spPr>
      </p:sp>
      <p:sp>
        <p:nvSpPr>
          <p:cNvPr id="8" name="Text 6"/>
          <p:cNvSpPr txBox="1"/>
          <p:nvPr/>
        </p:nvSpPr>
        <p:spPr>
          <a:xfrm>
            <a:off x="731520" y="2468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417320" y="2423160"/>
            <a:ext cx="9601200" cy="347472"/>
          </a:xfrm>
          <a:prstGeom prst="rect">
            <a:avLst/>
          </a:prstGeom>
          <a:noFill/>
          <a:ln/>
        </p:spPr>
        <p:txBody>
          <a:bodyPr wrap="square" lIns="0" tIns="0" rIns="0" bIns="0" rtlCol="0" anchor="t"/>
          <a:lstStyle/>
          <a:p>
            <a:pPr indent="0" marL="0">
              <a:buNone/>
            </a:pPr>
            <a:r>
              <a:rPr lang="en-US" sz="1900" b="1" dirty="0">
                <a:solidFill>
                  <a:schemeClr val="bg1"/>
                </a:solidFill>
              </a:rPr>
              <a:t>Hazards verified</a:t>
            </a:r>
            <a:endParaRPr lang="en-US" sz="1900" dirty="0"/>
          </a:p>
        </p:txBody>
      </p:sp>
      <p:sp>
        <p:nvSpPr>
          <p:cNvPr id="10" name="Text 8"/>
          <p:cNvSpPr txBox="1"/>
          <p:nvPr/>
        </p:nvSpPr>
        <p:spPr>
          <a:xfrm>
            <a:off x="1417320" y="2770632"/>
            <a:ext cx="9601200" cy="365760"/>
          </a:xfrm>
          <a:prstGeom prst="rect">
            <a:avLst/>
          </a:prstGeom>
          <a:noFill/>
          <a:ln/>
        </p:spPr>
        <p:txBody>
          <a:bodyPr wrap="square" lIns="0" tIns="0" rIns="0" bIns="0" rtlCol="0" anchor="t"/>
          <a:lstStyle/>
          <a:p>
            <a:pPr indent="0" marL="0">
              <a:buNone/>
            </a:pPr>
            <a:r>
              <a:rPr lang="en-US" sz="1400" dirty="0">
                <a:solidFill>
                  <a:schemeClr val="bg2"/>
                </a:solidFill>
              </a:rPr>
              <a:t>Forwarding, 1-cycle load-use stall, 2-cycle branch flush, clean halt</a:t>
            </a:r>
            <a:endParaRPr lang="en-US" sz="1400" dirty="0"/>
          </a:p>
        </p:txBody>
      </p:sp>
      <p:sp>
        <p:nvSpPr>
          <p:cNvPr id="11" name="bullet dot"/>
          <p:cNvSpPr/>
          <p:nvPr/>
        </p:nvSpPr>
        <p:spPr>
          <a:xfrm>
            <a:off x="731520" y="3337560"/>
            <a:ext cx="457200" cy="457200"/>
          </a:xfrm>
          <a:prstGeom prst="ellipse">
            <a:avLst/>
          </a:prstGeom>
          <a:solidFill>
            <a:schemeClr val="accent2"/>
          </a:solidFill>
          <a:ln w="12700">
            <a:solidFill>
              <a:schemeClr val="accent2"/>
            </a:solidFill>
            <a:prstDash val="solid"/>
          </a:ln>
        </p:spPr>
      </p:sp>
      <p:sp>
        <p:nvSpPr>
          <p:cNvPr id="12" name="Text 10"/>
          <p:cNvSpPr txBox="1"/>
          <p:nvPr/>
        </p:nvSpPr>
        <p:spPr>
          <a:xfrm>
            <a:off x="7315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417320" y="3291840"/>
            <a:ext cx="9601200" cy="347472"/>
          </a:xfrm>
          <a:prstGeom prst="rect">
            <a:avLst/>
          </a:prstGeom>
          <a:noFill/>
          <a:ln/>
        </p:spPr>
        <p:txBody>
          <a:bodyPr wrap="square" lIns="0" tIns="0" rIns="0" bIns="0" rtlCol="0" anchor="t"/>
          <a:lstStyle/>
          <a:p>
            <a:pPr indent="0" marL="0">
              <a:buNone/>
            </a:pPr>
            <a:r>
              <a:rPr lang="en-US" sz="1900" b="1" dirty="0">
                <a:solidFill>
                  <a:schemeClr val="bg1"/>
                </a:solidFill>
              </a:rPr>
              <a:t>Self-checking testbench</a:t>
            </a:r>
            <a:endParaRPr lang="en-US" sz="1900" dirty="0"/>
          </a:p>
        </p:txBody>
      </p:sp>
      <p:sp>
        <p:nvSpPr>
          <p:cNvPr id="14" name="Text 12"/>
          <p:cNvSpPr txBox="1"/>
          <p:nvPr/>
        </p:nvSpPr>
        <p:spPr>
          <a:xfrm>
            <a:off x="1417320" y="3639312"/>
            <a:ext cx="9601200" cy="365760"/>
          </a:xfrm>
          <a:prstGeom prst="rect">
            <a:avLst/>
          </a:prstGeom>
          <a:noFill/>
          <a:ln/>
        </p:spPr>
        <p:txBody>
          <a:bodyPr wrap="square" lIns="0" tIns="0" rIns="0" bIns="0" rtlCol="0" anchor="t"/>
          <a:lstStyle/>
          <a:p>
            <a:pPr indent="0" marL="0">
              <a:buNone/>
            </a:pPr>
            <a:r>
              <a:rPr lang="en-US" sz="1400" dirty="0">
                <a:solidFill>
                  <a:schemeClr val="bg2"/>
                </a:solidFill>
              </a:rPr>
              <a:t>9 / 9 checks passed, CPI = 1.50 fully explained</a:t>
            </a:r>
            <a:endParaRPr lang="en-US" sz="1400" dirty="0"/>
          </a:p>
        </p:txBody>
      </p:sp>
      <p:sp>
        <p:nvSpPr>
          <p:cNvPr id="15" name="bullet dot"/>
          <p:cNvSpPr/>
          <p:nvPr/>
        </p:nvSpPr>
        <p:spPr>
          <a:xfrm>
            <a:off x="731520" y="4206240"/>
            <a:ext cx="457200" cy="457200"/>
          </a:xfrm>
          <a:prstGeom prst="ellipse">
            <a:avLst/>
          </a:prstGeom>
          <a:solidFill>
            <a:schemeClr val="accent4"/>
          </a:solidFill>
          <a:ln w="12700">
            <a:solidFill>
              <a:schemeClr val="accent4"/>
            </a:solidFill>
            <a:prstDash val="solid"/>
          </a:ln>
        </p:spPr>
      </p:sp>
      <p:sp>
        <p:nvSpPr>
          <p:cNvPr id="16" name="Text 14"/>
          <p:cNvSpPr txBox="1"/>
          <p:nvPr/>
        </p:nvSpPr>
        <p:spPr>
          <a:xfrm>
            <a:off x="731520" y="4206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5"/>
          <p:cNvSpPr txBox="1"/>
          <p:nvPr/>
        </p:nvSpPr>
        <p:spPr>
          <a:xfrm>
            <a:off x="1417320" y="4160520"/>
            <a:ext cx="9601200" cy="347472"/>
          </a:xfrm>
          <a:prstGeom prst="rect">
            <a:avLst/>
          </a:prstGeom>
          <a:noFill/>
          <a:ln/>
        </p:spPr>
        <p:txBody>
          <a:bodyPr wrap="square" lIns="0" tIns="0" rIns="0" bIns="0" rtlCol="0" anchor="t"/>
          <a:lstStyle/>
          <a:p>
            <a:pPr indent="0" marL="0">
              <a:buNone/>
            </a:pPr>
            <a:r>
              <a:rPr lang="en-US" sz="1900" b="1" dirty="0">
                <a:solidFill>
                  <a:schemeClr val="bg1"/>
                </a:solidFill>
              </a:rPr>
              <a:t>Compact hardware</a:t>
            </a:r>
            <a:endParaRPr lang="en-US" sz="1900" dirty="0"/>
          </a:p>
        </p:txBody>
      </p:sp>
      <p:sp>
        <p:nvSpPr>
          <p:cNvPr id="18" name="Text 16"/>
          <p:cNvSpPr txBox="1"/>
          <p:nvPr/>
        </p:nvSpPr>
        <p:spPr>
          <a:xfrm>
            <a:off x="1417320" y="4507992"/>
            <a:ext cx="9601200" cy="365760"/>
          </a:xfrm>
          <a:prstGeom prst="rect">
            <a:avLst/>
          </a:prstGeom>
          <a:noFill/>
          <a:ln/>
        </p:spPr>
        <p:txBody>
          <a:bodyPr wrap="square" lIns="0" tIns="0" rIns="0" bIns="0" rtlCol="0" anchor="t"/>
          <a:lstStyle/>
          <a:p>
            <a:pPr indent="0" marL="0">
              <a:buNone/>
            </a:pPr>
            <a:r>
              <a:rPr lang="en-US" sz="1400" dirty="0">
                <a:solidFill>
                  <a:schemeClr val="bg2"/>
                </a:solidFill>
              </a:rPr>
              <a:t>238 LUTs, 187 FFs on Artix-7 (about 1 %)</a:t>
            </a:r>
            <a:endParaRPr lang="en-US" sz="1400" dirty="0"/>
          </a:p>
        </p:txBody>
      </p:sp>
      <p:sp>
        <p:nvSpPr>
          <p:cNvPr id="19" name="Text 17"/>
          <p:cNvSpPr txBox="1"/>
          <p:nvPr/>
        </p:nvSpPr>
        <p:spPr>
          <a:xfrm>
            <a:off x="731520" y="5440680"/>
            <a:ext cx="10698480" cy="64008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Thank you  •  Questions?</a:t>
            </a:r>
            <a:endParaRPr lang="en-US" sz="3000" dirty="0"/>
          </a:p>
        </p:txBody>
      </p:sp>
    </p:spTree>
  </p:cSld>
  <p:clrMapOvr>
    <a:masterClrMapping/>
  </p:clrMapOvr>
</p:sld>
</file>

<file path=ppt/theme/theme1.xml><?xml version="1.0" encoding="utf-8"?>
<a:theme xmlns:a="http://schemas.openxmlformats.org/drawingml/2006/main" name="Silicon Teal">
  <a:themeElements>
    <a:clrScheme name="Silicon Teal">
      <a:dk1>
        <a:srgbClr val="1B1F24"/>
      </a:dk1>
      <a:lt1>
        <a:srgbClr val="FFFFFF"/>
      </a:lt1>
      <a:dk2>
        <a:srgbClr val="0F2A2E"/>
      </a:dk2>
      <a:lt2>
        <a:srgbClr val="EEF4F3"/>
      </a:lt2>
      <a:accent1>
        <a:srgbClr val="1F7A6C"/>
      </a:accent1>
      <a:accent2>
        <a:srgbClr val="C77D3A"/>
      </a:accent2>
      <a:accent3>
        <a:srgbClr val="4A6FA5"/>
      </a:accent3>
      <a:accent4>
        <a:srgbClr val="8E5BA8"/>
      </a:accent4>
      <a:accent5>
        <a:srgbClr val="C0504D"/>
      </a:accent5>
      <a:accent6>
        <a:srgbClr val="5E8F32"/>
      </a:accent6>
      <a:hlink>
        <a:srgbClr val="1F7A6C"/>
      </a:hlink>
      <a:folHlink>
        <a:srgbClr val="8E5BA8"/>
      </a:folHlink>
    </a:clrScheme>
    <a:fontScheme name="Silicon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8-bit RISC Processor Core with a 5-Stage Pipeline</dc:title>
  <dc:subject>PptxGenJS Presentation</dc:subject>
  <dc:creator>Tran Duy (SE193143)</dc:creator>
  <cp:lastModifiedBy>Tran Duy (SE193143)</cp:lastModifiedBy>
  <cp:revision>1</cp:revision>
  <dcterms:created xsi:type="dcterms:W3CDTF">2026-10-22T12:42:13Z</dcterms:created>
  <dcterms:modified xsi:type="dcterms:W3CDTF">2026-10-22T12:42:13Z</dcterms:modified>
</cp:coreProperties>
</file>